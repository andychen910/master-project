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7213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31520" y="502920"/>
            <a:ext cx="76809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Housing Market Responses</a:t>
            </a:r>
            <a:endParaRPr lang="en-US" sz="3300" dirty="0"/>
          </a:p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Macroeconomic Shocks Differ</a:t>
            </a:r>
            <a:endParaRPr lang="en-US" sz="3300" dirty="0"/>
          </a:p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U.S. States?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0" y="3291840"/>
            <a:ext cx="9144000" cy="1417320"/>
          </a:xfrm>
          <a:prstGeom prst="rect">
            <a:avLst/>
          </a:prstGeom>
          <a:solidFill>
            <a:srgbClr val="243655"/>
          </a:solidFill>
          <a:ln w="12700">
            <a:solidFill>
              <a:srgbClr val="2436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680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 Chen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of Science in Data Science &amp; Analytics</a:t>
            </a:r>
            <a:endParaRPr lang="en-US" sz="20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State University, Chico  ·  Proposal Defense  ·  Spring 2025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Project Proposal Defense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— What Are We Studying and Why?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 Chen  ·  MS Data Science &amp; Analytics  ·  CSU Chico  ·  Proposal Defense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21040" y="482803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822960"/>
            <a:ext cx="41605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56032" y="822960"/>
            <a:ext cx="50292" cy="3886200"/>
          </a:xfrm>
          <a:prstGeom prst="rect">
            <a:avLst/>
          </a:prstGeom>
          <a:solidFill>
            <a:srgbClr val="2D5FA8"/>
          </a:solidFill>
          <a:ln w="12700">
            <a:solidFill>
              <a:srgbClr val="2D5F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57200" y="8869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1307592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ownership is the primary wealth-building vehicle for U.S. families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hit 40-year highs in 2021–2022, driven by COVID-era supply disruptions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prices rose 40%+ nationally between 2020 and 2023 (FHFA, 2024)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raised rates from ≈ 0% to over 5% in just two years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affordability reached historic lows for first-time buyers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822960"/>
            <a:ext cx="41605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4709160" y="822960"/>
            <a:ext cx="50292" cy="388620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901184" y="8869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01184" y="1307592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research treats the entire U.S. as one housing market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averages obscure major state-level variation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&amp; New York: high-cost, supply-constrained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Texas: elastic supply, lower price levels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Arizona: rapid Sun Belt growth post-2020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study has tested cross-state heterogeneity in a panel framework with a COVID structural break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of Problem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 Chen  ·  MS Data Science &amp; Analytics  ·  CSU Chico  ·  Proposal Defense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21040" y="482803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41248"/>
            <a:ext cx="850392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02920" y="841248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research relies on national-level data and reports a single average estimate — masking how states with fundamentally different housing structures respond to the same macroeconomic shocks.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56032" y="2176272"/>
            <a:ext cx="2788920" cy="2532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256032" y="2176272"/>
            <a:ext cx="50292" cy="2532888"/>
          </a:xfrm>
          <a:prstGeom prst="rect">
            <a:avLst/>
          </a:prstGeom>
          <a:solidFill>
            <a:srgbClr val="2D5FA8"/>
          </a:solidFill>
          <a:ln w="12700">
            <a:solidFill>
              <a:srgbClr val="2D5F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20624" y="2231136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Elasticity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0624" y="2651760"/>
            <a:ext cx="252374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Zoning and building restrictions vary widely across states. Inelastic supply amplifies the price impact of demand-side shocks like rate hikes (Glaeser &amp; Gyourko, 2018).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163824" y="2176272"/>
            <a:ext cx="2788920" cy="2532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3163824" y="2176272"/>
            <a:ext cx="50292" cy="2532888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3328416" y="2231136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Level Variation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28416" y="2651760"/>
            <a:ext cx="252374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1% rate increase has very different affordability consequences in CA/NY versus TX or OH. Pooled national models cannot capture this asymmetry.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071616" y="2176272"/>
            <a:ext cx="2788920" cy="2532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6071616" y="2176272"/>
            <a:ext cx="50292" cy="2532888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236208" y="2231136"/>
            <a:ext cx="25237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Post-COVID Regime Change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36208" y="2651760"/>
            <a:ext cx="2523744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pandemic reshaped migration, remote work, and demand patterns. The pre-2020 relationship between macro shocks and housing may no longer hold.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 Chen  ·  MS Data Science &amp; Analytics  ·  CSU Chico  ·  Proposal Defense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21040" y="482803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82296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56032" y="822960"/>
            <a:ext cx="566928" cy="1783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256032" y="822960"/>
            <a:ext cx="5669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50976" y="93268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50976" y="1335024"/>
            <a:ext cx="33832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inflation and interest rate changes affect housing activity at the national level?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90872" y="822960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4690872" y="822960"/>
            <a:ext cx="566928" cy="1783080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690872" y="822960"/>
            <a:ext cx="5669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85816" y="93268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Heterogeneity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85816" y="1335024"/>
            <a:ext cx="33832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those effects differ across states with structurally different housing markets?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6032" y="2779776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256032" y="2779776"/>
            <a:ext cx="566928" cy="178308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256032" y="2779776"/>
            <a:ext cx="5669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50976" y="2889504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Regime Shift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50976" y="3291840"/>
            <a:ext cx="33832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macroeconomic–housing relationship change after Q1 2020?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90872" y="2779776"/>
            <a:ext cx="4206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4690872" y="2779776"/>
            <a:ext cx="566928" cy="1783080"/>
          </a:xfrm>
          <a:prstGeom prst="rect">
            <a:avLst/>
          </a:prstGeom>
          <a:solidFill>
            <a:srgbClr val="2D5FA8"/>
          </a:solidFill>
          <a:ln w="12700">
            <a:solidFill>
              <a:srgbClr val="2D5F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4690872" y="2779776"/>
            <a:ext cx="56692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385816" y="2889504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85816" y="3291840"/>
            <a:ext cx="33832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forecast housing activity using inflation, interest rates, and state-level house prices?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56032" y="46634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C9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is the primary research focus of this study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 Chen  ·  MS Data Science &amp; Analytics  ·  CSU Chico  ·  Proposal Defense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21040" y="482803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822960"/>
            <a:ext cx="8631936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56032" y="822960"/>
            <a:ext cx="50292" cy="859536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57200" y="896112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&amp; Shiller (1989)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87168" y="896112"/>
            <a:ext cx="6263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markets are inherently local. Regional conditions — not national averages — drive price behavior. Early evidence that cross-region heterogeneity matters.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56032" y="1773936"/>
            <a:ext cx="8631936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256032" y="1773936"/>
            <a:ext cx="50292" cy="859536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57200" y="1847088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Glaeser &amp; Gyourko (2018)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87168" y="1847088"/>
            <a:ext cx="6263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Zoning restrictions make housing supply inelastic in many cities. Supply-constrained markets amplify demand-side shocks from rate increases — directly motivates state comparisons.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56032" y="2724912"/>
            <a:ext cx="8631936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256032" y="2724912"/>
            <a:ext cx="50292" cy="859536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2798064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Blanchard &amp; Bernanke (2023)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87168" y="2798064"/>
            <a:ext cx="6263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pandemic inflation was both supply- and demand-driven. Each type may affect housing differently since housing is simultaneously a consumption good and an investment.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256032" y="3675888"/>
            <a:ext cx="8631936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56032" y="3675888"/>
            <a:ext cx="50292" cy="859536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457200" y="3749040"/>
            <a:ext cx="2011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McCracken &amp; Ng (2016)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87168" y="3749040"/>
            <a:ext cx="6263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FRED-MD/FRED-QD enables joint modeling of macroeconomic variables, revealing dynamics that single-variable methods miss. This study uses the Q1 2026 vintage.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56032" y="4645152"/>
            <a:ext cx="8631936" cy="219456"/>
          </a:xfrm>
          <a:prstGeom prst="rect">
            <a:avLst/>
          </a:prstGeom>
          <a:solidFill>
            <a:srgbClr val="E3E8F0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384048" y="4645152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No study combines cross-state panel heterogeneity with a COVID-era structural break test.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 Chen  ·  MS Data Science &amp; Analytics  ·  CSU Chico  ·  Proposal Defense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21040" y="482803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841248"/>
            <a:ext cx="420624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56032" y="841248"/>
            <a:ext cx="4206240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47472" y="84124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0392" y="841248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" y="1316736"/>
            <a:ext cx="3822192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25–35 page academic paper covering all four research questions, written in APA format with full statistical reporting.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90872" y="841248"/>
            <a:ext cx="420624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4690872" y="841248"/>
            <a:ext cx="4206240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782312" y="84124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85232" y="841248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Dataset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73752" y="1316736"/>
            <a:ext cx="3822192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documented dataset merging FRED-QD (March 2026 vintage) with FHFA state HPIs for 7 states, Q1 1975–Q4 2025.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6032" y="2798064"/>
            <a:ext cx="420624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256032" y="2798064"/>
            <a:ext cx="4206240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347472" y="2798064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0392" y="2798064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 Code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8912" y="3273552"/>
            <a:ext cx="3822192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documented Python or R codebase — data cleaning, stationarity tests, all four models, diagnostics, and figures.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90872" y="2798064"/>
            <a:ext cx="4206240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4690872" y="2798064"/>
            <a:ext cx="4206240" cy="40233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4782312" y="2798064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85232" y="2798064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73752" y="3273552"/>
            <a:ext cx="3822192" cy="1216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plots, impulse response functions (8–12 quarter horizon), and side-by-side state comparison charts.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of Data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 Chen  ·  MS Data Science &amp; Analytics  ·  CSU Chico  ·  Proposal Defense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21040" y="482803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822960"/>
            <a:ext cx="4160520" cy="3904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56032" y="822960"/>
            <a:ext cx="50292" cy="3904488"/>
          </a:xfrm>
          <a:prstGeom prst="rect">
            <a:avLst/>
          </a:prstGeom>
          <a:solidFill>
            <a:srgbClr val="2D5FA8"/>
          </a:solidFill>
          <a:ln w="12700">
            <a:solidFill>
              <a:srgbClr val="2D5F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38912" y="88696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FRED-QD — March 2026 Vintage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" y="1335024"/>
            <a:ext cx="3858768" cy="3273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Quarterly, Q1 1959 – Q4 2025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245 macroeconomic variables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variables: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CPIAUCSL — inflation (All Urban CPI)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FEDFUNDS — short-term interest rate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GS10 — 10-Year Treasury yield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HOUST — national housing starts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 — new housing permits</a:t>
            </a:r>
            <a:endParaRPr lang="en-US" sz="1400" dirty="0"/>
          </a:p>
          <a:p>
            <a:pPr marL="685800" lvl="1" indent="-342900">
              <a:buSzPct val="100000"/>
              <a:buChar char="•"/>
            </a:pPr>
            <a:r>
              <a:rPr lang="en-US" sz="140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PAYEMS — total nonfarm payroll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822960"/>
            <a:ext cx="4160520" cy="3904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4709160" y="822960"/>
            <a:ext cx="50292" cy="3904488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892040" y="886968"/>
            <a:ext cx="38587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FHFA State House Price Indices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73752" y="1389888"/>
            <a:ext cx="457200" cy="3383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873752" y="1389888"/>
            <a:ext cx="457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13248" y="1408176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High-cost, supply-constrained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873752" y="1847088"/>
            <a:ext cx="457200" cy="3383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4873752" y="1847088"/>
            <a:ext cx="457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13248" y="1865376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High-cost, supply-constrained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73752" y="2304288"/>
            <a:ext cx="457200" cy="3383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4873752" y="2304288"/>
            <a:ext cx="457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13248" y="2322576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Lower-cost, elastic supply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873752" y="2761488"/>
            <a:ext cx="457200" cy="3383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4873752" y="2761488"/>
            <a:ext cx="457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13248" y="2779776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High-growth, strong in-migration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873752" y="3218688"/>
            <a:ext cx="457200" cy="3383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4873752" y="3218688"/>
            <a:ext cx="457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13248" y="3236976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Moderate-cost, Midwest market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873752" y="3675888"/>
            <a:ext cx="457200" cy="3383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4873752" y="3675888"/>
            <a:ext cx="457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13248" y="3694176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Midwest with large urban center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873752" y="4133088"/>
            <a:ext cx="457200" cy="3383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4873752" y="4133088"/>
            <a:ext cx="457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13248" y="4151376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Belt, rapid post-2020 growth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873752" y="4590288"/>
            <a:ext cx="3858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observations per state  ·  Q1 1975 – Q4 2025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Plan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 Chen  ·  MS Data Science &amp; Analytics  ·  CSU Chico  ·  Proposal Defense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21040" y="482803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" y="822960"/>
            <a:ext cx="2011680" cy="3904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46888" y="822960"/>
            <a:ext cx="201168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246888" y="8229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" y="1371600"/>
            <a:ext cx="18105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OLS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6616" y="1783080"/>
            <a:ext cx="1810512" cy="246888"/>
          </a:xfrm>
          <a:prstGeom prst="rect">
            <a:avLst/>
          </a:prstGeom>
          <a:solidFill>
            <a:srgbClr val="E3E8F0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56616" y="1783080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National housing activity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6616" y="2084832"/>
            <a:ext cx="1810512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+ interest rate + lagged DV.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Diagnostics: VIF (collinearity), Breusch-Godfrey (serial correlation).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432304" y="822960"/>
            <a:ext cx="2011680" cy="3904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2432304" y="822960"/>
            <a:ext cx="2011680" cy="475488"/>
          </a:xfrm>
          <a:prstGeom prst="rect">
            <a:avLst/>
          </a:prstGeom>
          <a:solidFill>
            <a:srgbClr val="2D5FA8"/>
          </a:solidFill>
          <a:ln w="12700">
            <a:solidFill>
              <a:srgbClr val="2D5F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2432304" y="8229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542032" y="1371600"/>
            <a:ext cx="18105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Panel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42032" y="1783080"/>
            <a:ext cx="1810512" cy="246888"/>
          </a:xfrm>
          <a:prstGeom prst="rect">
            <a:avLst/>
          </a:prstGeom>
          <a:solidFill>
            <a:srgbClr val="E3E8F0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2542032" y="1783080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State × quarter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42032" y="2084832"/>
            <a:ext cx="1810512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fixed effects + state-level HPI + inflation×state and rate×state interactions.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standard errors.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17720" y="822960"/>
            <a:ext cx="2011680" cy="3904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4617720" y="822960"/>
            <a:ext cx="2011680" cy="475488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4617720" y="8229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27448" y="1371600"/>
            <a:ext cx="18105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Regime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27448" y="1783080"/>
            <a:ext cx="1810512" cy="246888"/>
          </a:xfrm>
          <a:prstGeom prst="rect">
            <a:avLst/>
          </a:prstGeom>
          <a:solidFill>
            <a:srgbClr val="E3E8F0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4727448" y="1783080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Structural break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27448" y="2084832"/>
            <a:ext cx="1810512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binary (Q1 2020+) + inflation×COVID + rate×COVID interactions.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Chow test for structural break.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803136" y="822960"/>
            <a:ext cx="2011680" cy="3904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6803136" y="822960"/>
            <a:ext cx="2011680" cy="475488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6803136" y="8229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12864" y="1371600"/>
            <a:ext cx="18105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912864" y="1783080"/>
            <a:ext cx="1810512" cy="246888"/>
          </a:xfrm>
          <a:prstGeom prst="rect">
            <a:avLst/>
          </a:prstGeom>
          <a:solidFill>
            <a:srgbClr val="E3E8F0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6912864" y="1783080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Forecasting RMSE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912864" y="2084832"/>
            <a:ext cx="1810512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with impulse response functions (8–12 quarters).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&amp; LASSO vs. OLS on held-out 2020–2025 period.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246888" y="4663440"/>
            <a:ext cx="865022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variables transformed per FRED-QD appendix codes  ·  ADF stationarity tests applied before modeling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 Chen  ·  MS Data Science &amp; Analytics  ·  CSU Chico  ·  Proposal Defense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21040" y="482803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804672"/>
            <a:ext cx="2103120" cy="329184"/>
          </a:xfrm>
          <a:prstGeom prst="rect">
            <a:avLst/>
          </a:prstGeom>
          <a:solidFill>
            <a:srgbClr val="2D5FA8"/>
          </a:solidFill>
          <a:ln w="12700">
            <a:solidFill>
              <a:srgbClr val="2D5F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256032" y="8046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2025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" y="1188720"/>
            <a:ext cx="2103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256032" y="1188720"/>
            <a:ext cx="50292" cy="1691640"/>
          </a:xfrm>
          <a:prstGeom prst="rect">
            <a:avLst/>
          </a:prstGeom>
          <a:solidFill>
            <a:srgbClr val="2D5FA8"/>
          </a:solidFill>
          <a:ln w="12700">
            <a:solidFill>
              <a:srgbClr val="2D5F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384048" y="122529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1–2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14447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84048" y="1792224"/>
            <a:ext cx="1920240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merge FRED-QD + FHFA into panel dataset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432304" y="804672"/>
            <a:ext cx="2103120" cy="329184"/>
          </a:xfrm>
          <a:prstGeom prst="rect">
            <a:avLst/>
          </a:prstGeom>
          <a:solidFill>
            <a:srgbClr val="2D5FA8"/>
          </a:solidFill>
          <a:ln w="12700">
            <a:solidFill>
              <a:srgbClr val="2D5F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2432304" y="8046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2025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32304" y="1188720"/>
            <a:ext cx="2103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2432304" y="1188720"/>
            <a:ext cx="50292" cy="1691640"/>
          </a:xfrm>
          <a:prstGeom prst="rect">
            <a:avLst/>
          </a:prstGeom>
          <a:solidFill>
            <a:srgbClr val="2D5FA8"/>
          </a:solidFill>
          <a:ln w="12700">
            <a:solidFill>
              <a:srgbClr val="2D5F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2560320" y="122529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60320" y="14447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Stationarity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560320" y="1792224"/>
            <a:ext cx="1920240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analysis; ADF tests on all variables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08576" y="804672"/>
            <a:ext cx="2103120" cy="329184"/>
          </a:xfrm>
          <a:prstGeom prst="rect">
            <a:avLst/>
          </a:prstGeom>
          <a:solidFill>
            <a:srgbClr val="2D5FA8"/>
          </a:solidFill>
          <a:ln w="12700">
            <a:solidFill>
              <a:srgbClr val="2D5F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4608576" y="8046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2025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08576" y="1188720"/>
            <a:ext cx="2103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4608576" y="1188720"/>
            <a:ext cx="50292" cy="1691640"/>
          </a:xfrm>
          <a:prstGeom prst="rect">
            <a:avLst/>
          </a:prstGeom>
          <a:solidFill>
            <a:srgbClr val="2D5FA8"/>
          </a:solidFill>
          <a:ln w="12700">
            <a:solidFill>
              <a:srgbClr val="2D5F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4736592" y="122529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4–5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36592" y="14447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1 &amp; 2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736592" y="1792224"/>
            <a:ext cx="1920240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OLS + state heterogeneity panel regression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784848" y="804672"/>
            <a:ext cx="2103120" cy="329184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6784848" y="80467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2025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84848" y="1188720"/>
            <a:ext cx="2103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6784848" y="1188720"/>
            <a:ext cx="50292" cy="1691640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6912864" y="122529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912864" y="14447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/ Chow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912864" y="1792224"/>
            <a:ext cx="1920240" cy="1033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regime + structural break test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44168" y="2999232"/>
            <a:ext cx="2103120" cy="329184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1344168" y="299923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2025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344168" y="3383280"/>
            <a:ext cx="21031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9" name="Shape 37"/>
          <p:cNvSpPr/>
          <p:nvPr/>
        </p:nvSpPr>
        <p:spPr>
          <a:xfrm>
            <a:off x="1344168" y="3383280"/>
            <a:ext cx="50292" cy="1298448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/>
          <p:nvPr/>
        </p:nvSpPr>
        <p:spPr>
          <a:xfrm>
            <a:off x="1472184" y="341985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7–8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472184" y="36393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4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1472184" y="3986784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impulse responses + Ridge/LASSO forecasting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520440" y="2999232"/>
            <a:ext cx="2103120" cy="329184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/>
          <p:nvPr/>
        </p:nvSpPr>
        <p:spPr>
          <a:xfrm>
            <a:off x="3520440" y="299923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2025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520440" y="3383280"/>
            <a:ext cx="21031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6" name="Shape 44"/>
          <p:cNvSpPr/>
          <p:nvPr/>
        </p:nvSpPr>
        <p:spPr>
          <a:xfrm>
            <a:off x="3520440" y="3383280"/>
            <a:ext cx="50292" cy="1298448"/>
          </a:xfrm>
          <a:prstGeom prst="rect">
            <a:avLst/>
          </a:prstGeom>
          <a:solidFill>
            <a:srgbClr val="1A7A8A"/>
          </a:solidFill>
          <a:ln w="12700">
            <a:solidFill>
              <a:srgbClr val="1A7A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5"/>
          <p:cNvSpPr/>
          <p:nvPr/>
        </p:nvSpPr>
        <p:spPr>
          <a:xfrm>
            <a:off x="3648456" y="341985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9–11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648456" y="36393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3648456" y="3986784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draft of research paper &amp; visualizations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696712" y="2999232"/>
            <a:ext cx="2103120" cy="329184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9"/>
          <p:cNvSpPr/>
          <p:nvPr/>
        </p:nvSpPr>
        <p:spPr>
          <a:xfrm>
            <a:off x="5696712" y="299923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696712" y="3383280"/>
            <a:ext cx="210312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3" name="Shape 51"/>
          <p:cNvSpPr/>
          <p:nvPr/>
        </p:nvSpPr>
        <p:spPr>
          <a:xfrm>
            <a:off x="5696712" y="3383280"/>
            <a:ext cx="50292" cy="1298448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Text 52"/>
          <p:cNvSpPr/>
          <p:nvPr/>
        </p:nvSpPr>
        <p:spPr>
          <a:xfrm>
            <a:off x="5824728" y="341985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12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824728" y="36393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5824728" y="3986784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review, revisions, final submission &amp; defense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274320" y="482803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 Chen  ·  MS Data Science &amp; Analytics  ·  CSU Chico  ·  Proposal Defense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321040" y="482803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" y="822960"/>
            <a:ext cx="8631936" cy="3904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56032" y="914400"/>
            <a:ext cx="50292" cy="502920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57200" y="905256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Blanchard, O., &amp; Bernanke, B. S. (2023). What caused the U.S. pandemic-era inflation? NBER Working Paper No. 31417.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1581912"/>
            <a:ext cx="50292" cy="502920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57200" y="1572768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Case, K. E., &amp; Shiller, R. J. (1989). The efficiency of the market for single-family homes. American Economic Review, 79(1), 125–137.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" y="2249424"/>
            <a:ext cx="50292" cy="502920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57200" y="2240280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Housing Finance Agency. (2024). FHFA house price index: State-level data. https://www.fhfa.gov/DataTools/Downloads/Pages/House-Price-Index-Datasets.aspx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" y="2916936"/>
            <a:ext cx="50292" cy="502920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57200" y="2907792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Glaeser, E. L., &amp; Gyourko, J. (2018). The economic implications of housing supply. Journal of Economic Perspectives, 32(1), 3–30.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" y="3584448"/>
            <a:ext cx="50292" cy="502920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575304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McCracken, M. W., &amp; Ng, S. (2016). FRED-MD: A monthly database for macroeconomic research. Journal of Business and Economic Statistics, 34(4), 574–589.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23317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0" y="3154680"/>
            <a:ext cx="4572000" cy="1417320"/>
          </a:xfrm>
          <a:prstGeom prst="rect">
            <a:avLst/>
          </a:prstGeom>
          <a:solidFill>
            <a:srgbClr val="243655"/>
          </a:solidFill>
          <a:ln w="12700">
            <a:solidFill>
              <a:srgbClr val="2436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2286000" y="3154680"/>
            <a:ext cx="4572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Andy Chen</a:t>
            </a:r>
            <a:endParaRPr lang="en-US" sz="18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3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Data Science &amp; Analytics  ·  CSU Chico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C9993A"/>
          </a:solidFill>
          <a:ln w="12700">
            <a:solidFill>
              <a:srgbClr val="C9993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Project Proposal Defense  ·  Spring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1273</Words>
  <Application>Microsoft Macintosh PowerPoint</Application>
  <PresentationFormat>如螢幕大小 (16:9)</PresentationFormat>
  <Paragraphs>185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 Project Proposal Defense – Andy Chen</dc:title>
  <dc:subject>PptxGenJS Presentation</dc:subject>
  <dc:creator>Andy Chen</dc:creator>
  <cp:lastModifiedBy>Andy Chen</cp:lastModifiedBy>
  <cp:revision>1</cp:revision>
  <dcterms:created xsi:type="dcterms:W3CDTF">2026-04-20T21:20:53Z</dcterms:created>
  <dcterms:modified xsi:type="dcterms:W3CDTF">2026-04-21T23:29:35Z</dcterms:modified>
</cp:coreProperties>
</file>