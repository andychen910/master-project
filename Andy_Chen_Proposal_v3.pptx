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2" r:id="rId7"/>
    <p:sldId id="263" r:id="rId8"/>
    <p:sldId id="264" r:id="rId9"/>
    <p:sldId id="265" r:id="rId10"/>
    <p:sldId id="261" r:id="rId11"/>
    <p:sldId id="267"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5613" autoAdjust="0"/>
  </p:normalViewPr>
  <p:slideViewPr>
    <p:cSldViewPr snapToGrid="0" snapToObjects="1">
      <p:cViewPr>
        <p:scale>
          <a:sx n="100" d="100"/>
          <a:sy n="100" d="100"/>
        </p:scale>
        <p:origin x="1914" y="2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1235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Hi everyone. I'm Andy.</a:t>
            </a:r>
            <a:br>
              <a:rPr lang="en-US" altLang="zh-TW" dirty="0"/>
            </a:br>
            <a:r>
              <a:rPr lang="en-US" altLang="zh-TW" dirty="0"/>
              <a:t>Today I'm presenting my MS project proposal on How Do Housing Market Responses to Macroeconomic Shocks Differ Across U.S. States?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Let me start with why this I think this is matters.</a:t>
            </a:r>
            <a:br>
              <a:rPr lang="en-US" altLang="zh-TW" dirty="0"/>
            </a:br>
            <a:endParaRPr lang="en-US" altLang="zh-TW" dirty="0"/>
          </a:p>
          <a:p>
            <a:r>
              <a:rPr lang="en-US" altLang="zh-TW" dirty="0"/>
              <a:t>Buying a home has gotten a lot harder in recent years. Inflation hit a 40-year high in 2021 and 2022. Home prices went up over 40 percent between 2020 and 2023. The Federal Reserve raised interest rates from near zero to over five percent in just two years. All of that pushed home affordability to one of its worst points in history.</a:t>
            </a:r>
            <a:br>
              <a:rPr lang="en-US" altLang="zh-TW" dirty="0"/>
            </a:br>
            <a:endParaRPr lang="en-US" altLang="zh-TW" dirty="0"/>
          </a:p>
          <a:p>
            <a:r>
              <a:rPr lang="en-US" altLang="zh-TW" dirty="0"/>
              <a:t>Most research on this topic treats the whole country as one housing market. But that is not how housing actually works. California and New York have expensive homes and very little room to build. Texas is cheaper and easier to build in. Arizona grew really fast after 2020. When the Fed raises rates, those states are not going to react the same way.</a:t>
            </a:r>
            <a:br>
              <a:rPr lang="en-US" altLang="zh-TW" dirty="0"/>
            </a:br>
            <a:endParaRPr lang="en-US" altLang="zh-TW" dirty="0"/>
          </a:p>
          <a:p>
            <a:r>
              <a:rPr lang="en-US" altLang="zh-TW" dirty="0"/>
              <a:t>This study looks directly at those differences, and also tests whether COVID changed the relationship between the economy and housing activity.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The issue with most existing research is that it gives one average number for the whole country. That average hides real differences between states.</a:t>
            </a:r>
            <a:br>
              <a:rPr lang="en-US" altLang="zh-TW" dirty="0"/>
            </a:br>
            <a:endParaRPr lang="en-US" altLang="zh-TW" dirty="0"/>
          </a:p>
          <a:p>
            <a:pPr marL="0" indent="0">
              <a:buFont typeface="Arial" panose="020B0604020202020204" pitchFamily="34" charset="0"/>
              <a:buNone/>
            </a:pPr>
            <a:r>
              <a:rPr lang="en-US" altLang="zh-TW" dirty="0"/>
              <a:t>There are three reasons states should respond differently. </a:t>
            </a:r>
          </a:p>
          <a:p>
            <a:pPr marL="171450" indent="-171450">
              <a:buFont typeface="Arial" panose="020B0604020202020204" pitchFamily="34" charset="0"/>
              <a:buChar char="•"/>
            </a:pPr>
            <a:r>
              <a:rPr lang="en-US" altLang="zh-TW" dirty="0"/>
              <a:t>First, some states have strict building rules, which means when rates go up, prices get hit a lot harder because there is no room to add supply. </a:t>
            </a:r>
          </a:p>
          <a:p>
            <a:pPr marL="171450" indent="-171450">
              <a:buFont typeface="Arial" panose="020B0604020202020204" pitchFamily="34" charset="0"/>
              <a:buChar char="•"/>
            </a:pPr>
            <a:r>
              <a:rPr lang="en-US" altLang="zh-TW" dirty="0"/>
              <a:t>Second, a one percent rate increase means something very different for a buyer in California compared to Ohio, just because home prices are so far apart. </a:t>
            </a:r>
          </a:p>
          <a:p>
            <a:pPr marL="171450" indent="-171450">
              <a:buFont typeface="Arial" panose="020B0604020202020204" pitchFamily="34" charset="0"/>
              <a:buChar char="•"/>
            </a:pPr>
            <a:r>
              <a:rPr lang="en-US" altLang="zh-TW" dirty="0"/>
              <a:t>Third, COVID changed how people move and work, so the old relationship between interest rates and housing demand may not hold anymore.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I have four research questions.</a:t>
            </a:r>
          </a:p>
          <a:p>
            <a:endParaRPr lang="en-US" altLang="zh-TW" dirty="0"/>
          </a:p>
          <a:p>
            <a:r>
              <a:rPr lang="en-US" altLang="zh-TW" dirty="0"/>
              <a:t>Q1 is the baseline: how do inflation and interest rates affect housing activity at the national level?</a:t>
            </a:r>
          </a:p>
          <a:p>
            <a:endParaRPr lang="en-US" altLang="zh-TW" dirty="0"/>
          </a:p>
          <a:p>
            <a:r>
              <a:rPr lang="en-US" altLang="zh-TW" dirty="0"/>
              <a:t>Q2 is the main focus: do those effects differ across states? For example, does a rate increase hurt California more than Texas?</a:t>
            </a:r>
          </a:p>
          <a:p>
            <a:endParaRPr lang="en-US" altLang="zh-TW" dirty="0"/>
          </a:p>
          <a:p>
            <a:r>
              <a:rPr lang="en-US" altLang="zh-TW" dirty="0"/>
              <a:t>Q3 tests whether COVID changed those relationships after Q1 2020.</a:t>
            </a:r>
          </a:p>
          <a:p>
            <a:endParaRPr lang="en-US" altLang="zh-TW" dirty="0"/>
          </a:p>
          <a:p>
            <a:r>
              <a:rPr lang="en-US" altLang="zh-TW" dirty="0"/>
              <a:t>Q4 is about prediction: can I build a better forecasting model by adding state-level house prices?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Four papers shape this study.</a:t>
            </a:r>
          </a:p>
          <a:p>
            <a:r>
              <a:rPr lang="en-US" altLang="zh-TW" dirty="0"/>
              <a:t>The first one showed that housing markets are local, not national. Regional conditions drive prices, not national averages.</a:t>
            </a:r>
          </a:p>
          <a:p>
            <a:r>
              <a:rPr lang="en-US" altLang="zh-TW" dirty="0"/>
              <a:t>The second, found that strict zoning makes housing supply tight in many places. When supply is limited, rate increases hit prices harder. That is directly why comparing states makes sense here.</a:t>
            </a:r>
          </a:p>
          <a:p>
            <a:r>
              <a:rPr lang="en-US" altLang="zh-TW" dirty="0"/>
              <a:t>The third looked at recent U.S. inflation and found it came from both supply and demand problems. That matters because housing is both something people live in and something people invest in, so those two types of inflation may affect it differently.</a:t>
            </a:r>
          </a:p>
          <a:p>
            <a:r>
              <a:rPr lang="en-US" altLang="zh-TW" dirty="0"/>
              <a:t>The last one is the database that this project uses. It lets us look at many economic variables together rather than one at a time.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I'm using two datasets.</a:t>
            </a:r>
            <a:br>
              <a:rPr lang="en-US" altLang="zh-TW" dirty="0"/>
            </a:br>
            <a:endParaRPr lang="en-US" altLang="zh-TW" dirty="0"/>
          </a:p>
          <a:p>
            <a:r>
              <a:rPr lang="en-US" altLang="zh-TW" dirty="0"/>
              <a:t>The first is FRED-QD from the Federal Reserve Bank of St. Louis, March 2026 version. It covers Q1 1959 through Q4 2025. The key variables I'm pulling are CPI for inflation, the Federal Funds Rate and 10-Year Treasury yield for interest rates, Housing Starts and Building Permits for housing activity, and total nonfarm payroll as a labor market control.</a:t>
            </a:r>
          </a:p>
          <a:p>
            <a:endParaRPr lang="en-US" altLang="zh-TW" dirty="0"/>
          </a:p>
          <a:p>
            <a:r>
              <a:rPr lang="en-US" altLang="zh-TW" dirty="0"/>
              <a:t>The second is the FHFA State House Price Index for seven states: California, New York, Texas, Florida, Ohio, Illinois, and Arizona. Each has 204 quarters of data from Q1 1975 through Q4 2025.</a:t>
            </a:r>
          </a:p>
          <a:p>
            <a:endParaRPr lang="en-US" altLang="zh-TW" dirty="0"/>
          </a:p>
          <a:p>
            <a:r>
              <a:rPr lang="en-US" altLang="zh-TW" dirty="0"/>
              <a:t>I picked these seven because they cover very different kinds of housing markets, from expensive and hard to build in, to cheaper and easy to build in. That range is what makes it possible to test whether states actually respond differently.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Two limitations to flag before I get into the models.</a:t>
            </a:r>
          </a:p>
          <a:p>
            <a:endParaRPr lang="en-US" altLang="zh-TW" dirty="0"/>
          </a:p>
          <a:p>
            <a:r>
              <a:rPr lang="en-US" altLang="zh-TW" dirty="0"/>
              <a:t>First, Housing Starts is a national number, not state-level. So, I'll use the FHFA state house price indices as the main outcome in the panel models, and only use Housing Starts in Model 1 as a national baseline.</a:t>
            </a:r>
          </a:p>
          <a:p>
            <a:endParaRPr lang="en-US" altLang="zh-TW" dirty="0"/>
          </a:p>
          <a:p>
            <a:r>
              <a:rPr lang="en-US" altLang="zh-TW" dirty="0"/>
              <a:t>Second, CPI does not vary by state. To work around this, I'll use state-level house price growth rate as a proxy for local price conditions.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Here are the four models that I plan to build on each other.</a:t>
            </a:r>
          </a:p>
          <a:p>
            <a:r>
              <a:rPr lang="en-US" altLang="zh-TW" dirty="0"/>
              <a:t>Model 1 is a basic OLS regression using national housing activity. I put in inflation, interest rates, and last quarter's housing activity as a starting point. This gives me a national baseline to compare against.</a:t>
            </a:r>
          </a:p>
          <a:p>
            <a:endParaRPr lang="en-US" altLang="zh-TW" dirty="0"/>
          </a:p>
          <a:p>
            <a:r>
              <a:rPr lang="en-US" altLang="zh-TW" dirty="0"/>
              <a:t>Model 2 is where I bring in the seven states. I give each state its own starting point in the model, which controls for the fixed differences between states that have nothing to do with inflation or rates. Then I add interaction terms so each state can have its own response to inflation and interest rates. This directly answers whether California responds differently from Texas.</a:t>
            </a:r>
          </a:p>
          <a:p>
            <a:endParaRPr lang="en-US" altLang="zh-TW" dirty="0"/>
          </a:p>
          <a:p>
            <a:r>
              <a:rPr lang="en-US" altLang="zh-TW" dirty="0"/>
              <a:t>Model 3 adds a COVID variable that turns on from Q1 2020. I also interact it with inflation and interest rates. This tells me whether the size or direction of those effects changed after the pandemic started.</a:t>
            </a:r>
          </a:p>
          <a:p>
            <a:endParaRPr lang="en-US" altLang="zh-TW" dirty="0"/>
          </a:p>
          <a:p>
            <a:r>
              <a:rPr lang="en-US" altLang="zh-TW" dirty="0"/>
              <a:t>Model 4 switches the goal from explanation to prediction. I use a VAR model, which lets housing activity, inflation, and interest rates all influence each other over time. I'll use impulse response functions to see how a shock, like a sudden rate increase.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This is the rough timeline from Summer 2026 to Spring 2027 for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The project produces four things: </a:t>
            </a:r>
          </a:p>
          <a:p>
            <a:pPr marL="171450" indent="-171450">
              <a:buFont typeface="Arial" panose="020B0604020202020204" pitchFamily="34" charset="0"/>
              <a:buChar char="•"/>
            </a:pPr>
            <a:r>
              <a:rPr lang="en-US" altLang="zh-TW" dirty="0"/>
              <a:t>A research paper covering all four research questions.</a:t>
            </a:r>
          </a:p>
          <a:p>
            <a:pPr marL="171450" indent="-171450">
              <a:buFont typeface="Arial" panose="020B0604020202020204" pitchFamily="34" charset="0"/>
              <a:buChar char="•"/>
            </a:pPr>
            <a:r>
              <a:rPr lang="en-US" altLang="zh-TW" dirty="0"/>
              <a:t>A cleaned panel dataset combining both data sources.</a:t>
            </a:r>
          </a:p>
          <a:p>
            <a:pPr marL="171450" indent="-171450">
              <a:buFont typeface="Arial" panose="020B0604020202020204" pitchFamily="34" charset="0"/>
              <a:buChar char="•"/>
            </a:pPr>
            <a:r>
              <a:rPr lang="en-US" altLang="zh-TW" dirty="0"/>
              <a:t>Fully documented Python or R code.</a:t>
            </a:r>
          </a:p>
          <a:p>
            <a:pPr marL="171450" indent="-171450">
              <a:buFont typeface="Arial" panose="020B0604020202020204" pitchFamily="34" charset="0"/>
              <a:buChar char="•"/>
            </a:pPr>
            <a:r>
              <a:rPr lang="en-US" altLang="zh-TW" dirty="0"/>
              <a:t>Visualizations including time series plots, impulse response functions, and state comparison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46304"/>
          </a:xfrm>
          <a:prstGeom prst="rect">
            <a:avLst/>
          </a:prstGeom>
          <a:solidFill>
            <a:srgbClr val="C9993A"/>
          </a:solidFill>
          <a:ln w="12700">
            <a:solidFill>
              <a:srgbClr val="C9993A"/>
            </a:solidFill>
            <a:prstDash val="solid"/>
          </a:ln>
        </p:spPr>
      </p:sp>
      <p:sp>
        <p:nvSpPr>
          <p:cNvPr id="3" name="Text 1"/>
          <p:cNvSpPr/>
          <p:nvPr/>
        </p:nvSpPr>
        <p:spPr>
          <a:xfrm>
            <a:off x="731520" y="502920"/>
            <a:ext cx="7680960" cy="2651760"/>
          </a:xfrm>
          <a:prstGeom prst="rect">
            <a:avLst/>
          </a:prstGeom>
          <a:noFill/>
          <a:ln/>
        </p:spPr>
        <p:txBody>
          <a:bodyPr wrap="square" rtlCol="0" anchor="ctr"/>
          <a:lstStyle/>
          <a:p>
            <a:pPr marL="0" indent="0" algn="ctr">
              <a:buNone/>
            </a:pPr>
            <a:r>
              <a:rPr lang="en-US" sz="3300" b="1" dirty="0">
                <a:solidFill>
                  <a:srgbClr val="FFFFFF"/>
                </a:solidFill>
                <a:latin typeface="Calibri" pitchFamily="34" charset="0"/>
                <a:ea typeface="Calibri" pitchFamily="34" charset="-122"/>
                <a:cs typeface="Calibri" pitchFamily="34" charset="-120"/>
              </a:rPr>
              <a:t>How Do Housing Market Responses</a:t>
            </a:r>
            <a:endParaRPr lang="en-US" sz="3300" dirty="0"/>
          </a:p>
          <a:p>
            <a:pPr marL="0" indent="0" algn="ctr">
              <a:buNone/>
            </a:pPr>
            <a:r>
              <a:rPr lang="en-US" sz="3300" b="1" dirty="0">
                <a:solidFill>
                  <a:srgbClr val="FFFFFF"/>
                </a:solidFill>
                <a:latin typeface="Calibri" pitchFamily="34" charset="0"/>
                <a:ea typeface="Calibri" pitchFamily="34" charset="-122"/>
                <a:cs typeface="Calibri" pitchFamily="34" charset="-120"/>
              </a:rPr>
              <a:t>to Macroeconomic Shocks Differ</a:t>
            </a:r>
            <a:endParaRPr lang="en-US" sz="3300" dirty="0"/>
          </a:p>
          <a:p>
            <a:pPr marL="0" indent="0" algn="ctr">
              <a:buNone/>
            </a:pPr>
            <a:r>
              <a:rPr lang="en-US" sz="3300" b="1" dirty="0">
                <a:solidFill>
                  <a:srgbClr val="FFFFFF"/>
                </a:solidFill>
                <a:latin typeface="Calibri" pitchFamily="34" charset="0"/>
                <a:ea typeface="Calibri" pitchFamily="34" charset="-122"/>
                <a:cs typeface="Calibri" pitchFamily="34" charset="-120"/>
              </a:rPr>
              <a:t>Across U.S. States?</a:t>
            </a:r>
            <a:endParaRPr lang="en-US" sz="3300" dirty="0"/>
          </a:p>
        </p:txBody>
      </p:sp>
      <p:sp>
        <p:nvSpPr>
          <p:cNvPr id="4" name="Shape 2"/>
          <p:cNvSpPr/>
          <p:nvPr/>
        </p:nvSpPr>
        <p:spPr>
          <a:xfrm>
            <a:off x="0" y="3291840"/>
            <a:ext cx="9144000" cy="1417320"/>
          </a:xfrm>
          <a:prstGeom prst="rect">
            <a:avLst/>
          </a:prstGeom>
          <a:solidFill>
            <a:srgbClr val="243655"/>
          </a:solidFill>
          <a:ln w="12700">
            <a:solidFill>
              <a:srgbClr val="243655"/>
            </a:solidFill>
            <a:prstDash val="solid"/>
          </a:ln>
        </p:spPr>
      </p:sp>
      <p:sp>
        <p:nvSpPr>
          <p:cNvPr id="5" name="Text 3"/>
          <p:cNvSpPr/>
          <p:nvPr/>
        </p:nvSpPr>
        <p:spPr>
          <a:xfrm>
            <a:off x="731520" y="3291840"/>
            <a:ext cx="7680960" cy="14173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Andy Chen</a:t>
            </a:r>
            <a:endParaRPr lang="en-US" sz="2000" dirty="0"/>
          </a:p>
          <a:p>
            <a:pPr marL="0" indent="0" algn="ctr">
              <a:buNone/>
            </a:pPr>
            <a:r>
              <a:rPr lang="en-US" sz="1400" dirty="0">
                <a:solidFill>
                  <a:srgbClr val="E3E8F0"/>
                </a:solidFill>
                <a:latin typeface="Calibri" pitchFamily="34" charset="0"/>
                <a:ea typeface="Calibri" pitchFamily="34" charset="-122"/>
                <a:cs typeface="Calibri" pitchFamily="34" charset="-120"/>
              </a:rPr>
              <a:t>Master of Science in Data Science &amp; Analytics</a:t>
            </a:r>
            <a:endParaRPr lang="en-US" sz="2000" dirty="0"/>
          </a:p>
          <a:p>
            <a:pPr marL="0" indent="0" algn="ctr">
              <a:buNone/>
            </a:pPr>
            <a:r>
              <a:rPr lang="en-US" sz="1300" dirty="0">
                <a:solidFill>
                  <a:srgbClr val="E8B84B"/>
                </a:solidFill>
                <a:latin typeface="Calibri" pitchFamily="34" charset="0"/>
                <a:ea typeface="Calibri" pitchFamily="34" charset="-122"/>
                <a:cs typeface="Calibri" pitchFamily="34" charset="-120"/>
              </a:rPr>
              <a:t>California State University, Chico  ·  Proposal Defense  ·  Spring 2026</a:t>
            </a:r>
            <a:endParaRPr lang="en-US" sz="2000" dirty="0"/>
          </a:p>
        </p:txBody>
      </p:sp>
      <p:sp>
        <p:nvSpPr>
          <p:cNvPr id="6" name="Shape 4"/>
          <p:cNvSpPr/>
          <p:nvPr/>
        </p:nvSpPr>
        <p:spPr>
          <a:xfrm>
            <a:off x="0" y="4828032"/>
            <a:ext cx="9144000" cy="310896"/>
          </a:xfrm>
          <a:prstGeom prst="rect">
            <a:avLst/>
          </a:prstGeom>
          <a:solidFill>
            <a:srgbClr val="C9993A"/>
          </a:solidFill>
          <a:ln w="12700">
            <a:solidFill>
              <a:srgbClr val="C9993A"/>
            </a:solidFill>
            <a:prstDash val="solid"/>
          </a:ln>
        </p:spPr>
      </p:sp>
      <p:sp>
        <p:nvSpPr>
          <p:cNvPr id="7" name="Text 5"/>
          <p:cNvSpPr/>
          <p:nvPr/>
        </p:nvSpPr>
        <p:spPr>
          <a:xfrm>
            <a:off x="0" y="4828032"/>
            <a:ext cx="9144000" cy="310896"/>
          </a:xfrm>
          <a:prstGeom prst="rect">
            <a:avLst/>
          </a:prstGeom>
          <a:noFill/>
          <a:ln/>
        </p:spPr>
        <p:txBody>
          <a:bodyPr wrap="square" lIns="0" tIns="0" rIns="0" bIns="0" rtlCol="0" anchor="ctr"/>
          <a:lstStyle/>
          <a:p>
            <a:pPr marL="0" indent="0" algn="ctr">
              <a:buNone/>
            </a:pPr>
            <a:r>
              <a:rPr lang="en-US" sz="1000" b="1" dirty="0">
                <a:solidFill>
                  <a:srgbClr val="1B2A4A"/>
                </a:solidFill>
                <a:latin typeface="Calibri" pitchFamily="34" charset="0"/>
                <a:ea typeface="Calibri" pitchFamily="34" charset="-122"/>
                <a:cs typeface="Calibri" pitchFamily="34" charset="-120"/>
              </a:rPr>
              <a:t>MS Project Proposal Defense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Shape 1"/>
          <p:cNvSpPr/>
          <p:nvPr/>
        </p:nvSpPr>
        <p:spPr>
          <a:xfrm>
            <a:off x="0" y="658368"/>
            <a:ext cx="9144000" cy="50292"/>
          </a:xfrm>
          <a:prstGeom prst="rect">
            <a:avLst/>
          </a:prstGeom>
          <a:solidFill>
            <a:srgbClr val="C9993A"/>
          </a:solidFill>
          <a:ln w="12700">
            <a:solidFill>
              <a:srgbClr val="C9993A"/>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Introduction — What Are We Studying and Why?</a:t>
            </a:r>
            <a:endParaRPr lang="en-US" sz="2200" dirty="0"/>
          </a:p>
        </p:txBody>
      </p:sp>
      <p:sp>
        <p:nvSpPr>
          <p:cNvPr id="5" name="Shape 3"/>
          <p:cNvSpPr/>
          <p:nvPr/>
        </p:nvSpPr>
        <p:spPr>
          <a:xfrm>
            <a:off x="0" y="4828032"/>
            <a:ext cx="9144000" cy="310896"/>
          </a:xfrm>
          <a:prstGeom prst="rect">
            <a:avLst/>
          </a:prstGeom>
          <a:solidFill>
            <a:srgbClr val="1B2A4A"/>
          </a:solidFill>
          <a:ln w="12700">
            <a:solidFill>
              <a:srgbClr val="1B2A4A"/>
            </a:solidFill>
            <a:prstDash val="solid"/>
          </a:ln>
        </p:spPr>
      </p:sp>
      <p:sp>
        <p:nvSpPr>
          <p:cNvPr id="6" name="Text 4"/>
          <p:cNvSpPr/>
          <p:nvPr/>
        </p:nvSpPr>
        <p:spPr>
          <a:xfrm>
            <a:off x="274320" y="4828032"/>
            <a:ext cx="7772400" cy="310896"/>
          </a:xfrm>
          <a:prstGeom prst="rect">
            <a:avLst/>
          </a:prstGeom>
          <a:noFill/>
          <a:ln/>
        </p:spPr>
        <p:txBody>
          <a:bodyPr wrap="square" lIns="0" tIns="0" rIns="0" bIns="0" rtlCol="0" anchor="ctr"/>
          <a:lstStyle/>
          <a:p>
            <a:pPr marL="0" indent="0">
              <a:buNone/>
            </a:pPr>
            <a:r>
              <a:rPr lang="en-US" sz="900" dirty="0">
                <a:solidFill>
                  <a:srgbClr val="E3E8F0"/>
                </a:solidFill>
                <a:latin typeface="Calibri" pitchFamily="34" charset="0"/>
                <a:ea typeface="Calibri" pitchFamily="34" charset="-122"/>
                <a:cs typeface="Calibri" pitchFamily="34" charset="-120"/>
              </a:rPr>
              <a:t>Andy Chen  ·  MS Data Science &amp; Analytics  ·  CSU Chico  ·  Proposal Defense</a:t>
            </a:r>
            <a:endParaRPr lang="en-US" sz="900" dirty="0"/>
          </a:p>
        </p:txBody>
      </p:sp>
      <p:sp>
        <p:nvSpPr>
          <p:cNvPr id="7" name="Text 5"/>
          <p:cNvSpPr/>
          <p:nvPr/>
        </p:nvSpPr>
        <p:spPr>
          <a:xfrm>
            <a:off x="8321040" y="4828032"/>
            <a:ext cx="548640" cy="310896"/>
          </a:xfrm>
          <a:prstGeom prst="rect">
            <a:avLst/>
          </a:prstGeom>
          <a:noFill/>
          <a:ln/>
        </p:spPr>
        <p:txBody>
          <a:bodyPr wrap="square" lIns="0" tIns="0" rIns="0" bIns="0" rtlCol="0" anchor="ctr"/>
          <a:lstStyle/>
          <a:p>
            <a:pPr marL="0" indent="0" algn="r">
              <a:buNone/>
            </a:pPr>
            <a:r>
              <a:rPr lang="en-US" sz="900" b="1" dirty="0">
                <a:solidFill>
                  <a:srgbClr val="C9993A"/>
                </a:solidFill>
                <a:latin typeface="Calibri" pitchFamily="34" charset="0"/>
                <a:ea typeface="Calibri" pitchFamily="34" charset="-122"/>
                <a:cs typeface="Calibri" pitchFamily="34" charset="-120"/>
              </a:rPr>
              <a:t>2</a:t>
            </a:r>
            <a:endParaRPr lang="en-US" sz="900" dirty="0"/>
          </a:p>
        </p:txBody>
      </p:sp>
      <p:sp>
        <p:nvSpPr>
          <p:cNvPr id="8" name="Shape 6"/>
          <p:cNvSpPr/>
          <p:nvPr/>
        </p:nvSpPr>
        <p:spPr>
          <a:xfrm>
            <a:off x="256032" y="822960"/>
            <a:ext cx="4160520" cy="3886200"/>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9" name="Shape 7"/>
          <p:cNvSpPr/>
          <p:nvPr/>
        </p:nvSpPr>
        <p:spPr>
          <a:xfrm>
            <a:off x="256032" y="822960"/>
            <a:ext cx="50292" cy="3886200"/>
          </a:xfrm>
          <a:prstGeom prst="rect">
            <a:avLst/>
          </a:prstGeom>
          <a:solidFill>
            <a:srgbClr val="2D5FA8"/>
          </a:solidFill>
          <a:ln w="12700">
            <a:solidFill>
              <a:srgbClr val="2D5FA8"/>
            </a:solidFill>
            <a:prstDash val="solid"/>
          </a:ln>
        </p:spPr>
      </p:sp>
      <p:sp>
        <p:nvSpPr>
          <p:cNvPr id="10" name="Text 8"/>
          <p:cNvSpPr/>
          <p:nvPr/>
        </p:nvSpPr>
        <p:spPr>
          <a:xfrm>
            <a:off x="457200" y="886968"/>
            <a:ext cx="3840480" cy="384048"/>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The Problem</a:t>
            </a:r>
            <a:endParaRPr lang="en-US" sz="1500" dirty="0"/>
          </a:p>
        </p:txBody>
      </p:sp>
      <p:sp>
        <p:nvSpPr>
          <p:cNvPr id="11" name="Text 9"/>
          <p:cNvSpPr/>
          <p:nvPr/>
        </p:nvSpPr>
        <p:spPr>
          <a:xfrm>
            <a:off x="457200" y="1307592"/>
            <a:ext cx="3840480" cy="3291840"/>
          </a:xfrm>
          <a:prstGeom prst="rect">
            <a:avLst/>
          </a:prstGeom>
          <a:noFill/>
          <a:ln/>
        </p:spPr>
        <p:txBody>
          <a:bodyPr wrap="square" rtlCol="0" anchor="t"/>
          <a:lstStyle/>
          <a:p>
            <a:pPr marL="342900" indent="-342900">
              <a:buSzPct val="100000"/>
              <a:buChar char="•"/>
            </a:pPr>
            <a:r>
              <a:rPr lang="en-US" sz="1400" dirty="0">
                <a:solidFill>
                  <a:srgbClr val="3A4F6B"/>
                </a:solidFill>
                <a:latin typeface="Calibri" pitchFamily="34" charset="0"/>
                <a:ea typeface="Calibri" pitchFamily="34" charset="-122"/>
                <a:cs typeface="Calibri" pitchFamily="34" charset="-120"/>
              </a:rPr>
              <a:t>Home ownership is the primary wealth-building vehicle for U.S. families</a:t>
            </a:r>
            <a:endParaRPr lang="en-US" sz="1400" dirty="0"/>
          </a:p>
          <a:p>
            <a:pPr marL="342900" indent="-342900">
              <a:buSzPct val="100000"/>
              <a:buChar char="•"/>
            </a:pPr>
            <a:r>
              <a:rPr lang="en-US" sz="1400" dirty="0">
                <a:solidFill>
                  <a:srgbClr val="3A4F6B"/>
                </a:solidFill>
                <a:latin typeface="Calibri" pitchFamily="34" charset="0"/>
                <a:ea typeface="Calibri" pitchFamily="34" charset="-122"/>
                <a:cs typeface="Calibri" pitchFamily="34" charset="-120"/>
              </a:rPr>
              <a:t>CPI hit 40-year highs in 2021–2022, driven by COVID-era supply disruptions</a:t>
            </a:r>
            <a:endParaRPr lang="en-US" sz="1400" dirty="0"/>
          </a:p>
          <a:p>
            <a:pPr marL="342900" indent="-342900">
              <a:buSzPct val="100000"/>
              <a:buChar char="•"/>
            </a:pPr>
            <a:r>
              <a:rPr lang="en-US" sz="1400" dirty="0">
                <a:solidFill>
                  <a:srgbClr val="3A4F6B"/>
                </a:solidFill>
                <a:latin typeface="Calibri" pitchFamily="34" charset="0"/>
                <a:ea typeface="Calibri" pitchFamily="34" charset="-122"/>
                <a:cs typeface="Calibri" pitchFamily="34" charset="-120"/>
              </a:rPr>
              <a:t>Home prices rose 40%+ nationally between 2020 and 2023 (FHFA, 2024)</a:t>
            </a:r>
            <a:endParaRPr lang="en-US" sz="1400" dirty="0"/>
          </a:p>
          <a:p>
            <a:pPr marL="342900" indent="-342900">
              <a:buSzPct val="100000"/>
              <a:buChar char="•"/>
            </a:pPr>
            <a:r>
              <a:rPr lang="en-US" sz="1400" dirty="0">
                <a:solidFill>
                  <a:srgbClr val="3A4F6B"/>
                </a:solidFill>
                <a:latin typeface="Calibri" pitchFamily="34" charset="0"/>
                <a:ea typeface="Calibri" pitchFamily="34" charset="-122"/>
                <a:cs typeface="Calibri" pitchFamily="34" charset="-120"/>
              </a:rPr>
              <a:t>Fed raised rates from ≈ 0% to over 5% in just two years</a:t>
            </a:r>
            <a:endParaRPr lang="en-US" sz="1400" dirty="0"/>
          </a:p>
          <a:p>
            <a:pPr marL="342900" indent="-342900">
              <a:buSzPct val="100000"/>
              <a:buChar char="•"/>
            </a:pPr>
            <a:r>
              <a:rPr lang="en-US" sz="1400" dirty="0">
                <a:solidFill>
                  <a:srgbClr val="3A4F6B"/>
                </a:solidFill>
                <a:latin typeface="Calibri" pitchFamily="34" charset="0"/>
                <a:ea typeface="Calibri" pitchFamily="34" charset="-122"/>
                <a:cs typeface="Calibri" pitchFamily="34" charset="-120"/>
              </a:rPr>
              <a:t>Mortgage affordability reached historic lows for first-time buyers</a:t>
            </a:r>
            <a:endParaRPr lang="en-US" sz="1400" dirty="0"/>
          </a:p>
        </p:txBody>
      </p:sp>
      <p:sp>
        <p:nvSpPr>
          <p:cNvPr id="12" name="Shape 10"/>
          <p:cNvSpPr/>
          <p:nvPr/>
        </p:nvSpPr>
        <p:spPr>
          <a:xfrm>
            <a:off x="4709160" y="822960"/>
            <a:ext cx="4160520" cy="3886200"/>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13" name="Shape 11"/>
          <p:cNvSpPr/>
          <p:nvPr/>
        </p:nvSpPr>
        <p:spPr>
          <a:xfrm>
            <a:off x="4709160" y="822960"/>
            <a:ext cx="50292" cy="3886200"/>
          </a:xfrm>
          <a:prstGeom prst="rect">
            <a:avLst/>
          </a:prstGeom>
          <a:solidFill>
            <a:srgbClr val="1A7A8A"/>
          </a:solidFill>
          <a:ln w="12700">
            <a:solidFill>
              <a:srgbClr val="1A7A8A"/>
            </a:solidFill>
            <a:prstDash val="solid"/>
          </a:ln>
        </p:spPr>
      </p:sp>
      <p:sp>
        <p:nvSpPr>
          <p:cNvPr id="14" name="Text 12"/>
          <p:cNvSpPr/>
          <p:nvPr/>
        </p:nvSpPr>
        <p:spPr>
          <a:xfrm>
            <a:off x="4901184" y="886968"/>
            <a:ext cx="3840480" cy="384048"/>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The Gap</a:t>
            </a:r>
            <a:endParaRPr lang="en-US" sz="1500" dirty="0"/>
          </a:p>
        </p:txBody>
      </p:sp>
      <p:sp>
        <p:nvSpPr>
          <p:cNvPr id="15" name="Text 13"/>
          <p:cNvSpPr/>
          <p:nvPr/>
        </p:nvSpPr>
        <p:spPr>
          <a:xfrm>
            <a:off x="4901184" y="1307592"/>
            <a:ext cx="3840480" cy="3291840"/>
          </a:xfrm>
          <a:prstGeom prst="rect">
            <a:avLst/>
          </a:prstGeom>
          <a:noFill/>
          <a:ln/>
        </p:spPr>
        <p:txBody>
          <a:bodyPr wrap="square" rtlCol="0" anchor="t"/>
          <a:lstStyle/>
          <a:p>
            <a:pPr marL="342900" indent="-342900">
              <a:buSzPct val="100000"/>
              <a:buChar char="•"/>
            </a:pPr>
            <a:r>
              <a:rPr lang="en-US" sz="1400" dirty="0">
                <a:solidFill>
                  <a:srgbClr val="3A4F6B"/>
                </a:solidFill>
                <a:latin typeface="Calibri" pitchFamily="34" charset="0"/>
                <a:ea typeface="Calibri" pitchFamily="34" charset="-122"/>
                <a:cs typeface="Calibri" pitchFamily="34" charset="-120"/>
              </a:rPr>
              <a:t>Most research treats the entire U.S. as one housing market</a:t>
            </a:r>
            <a:endParaRPr lang="en-US" sz="1400" dirty="0"/>
          </a:p>
          <a:p>
            <a:pPr marL="342900" indent="-342900">
              <a:buSzPct val="100000"/>
              <a:buChar char="•"/>
            </a:pPr>
            <a:r>
              <a:rPr lang="en-US" sz="1400" dirty="0">
                <a:solidFill>
                  <a:srgbClr val="3A4F6B"/>
                </a:solidFill>
                <a:latin typeface="Calibri" pitchFamily="34" charset="0"/>
                <a:ea typeface="Calibri" pitchFamily="34" charset="-122"/>
                <a:cs typeface="Calibri" pitchFamily="34" charset="-120"/>
              </a:rPr>
              <a:t>National averages obscure major state-level variation</a:t>
            </a:r>
            <a:endParaRPr lang="en-US" sz="1400" dirty="0"/>
          </a:p>
          <a:p>
            <a:pPr marL="342900" indent="-342900">
              <a:buSzPct val="100000"/>
              <a:buChar char="•"/>
            </a:pPr>
            <a:r>
              <a:rPr lang="en-US" sz="1400" dirty="0">
                <a:solidFill>
                  <a:srgbClr val="3A4F6B"/>
                </a:solidFill>
                <a:latin typeface="Calibri" pitchFamily="34" charset="0"/>
                <a:ea typeface="Calibri" pitchFamily="34" charset="-122"/>
                <a:cs typeface="Calibri" pitchFamily="34" charset="-120"/>
              </a:rPr>
              <a:t>California &amp; New York: high-cost, supply-constrained</a:t>
            </a:r>
            <a:endParaRPr lang="en-US" sz="1400" dirty="0"/>
          </a:p>
          <a:p>
            <a:pPr marL="342900" indent="-342900">
              <a:buSzPct val="100000"/>
              <a:buChar char="•"/>
            </a:pPr>
            <a:r>
              <a:rPr lang="en-US" sz="1400" dirty="0">
                <a:solidFill>
                  <a:srgbClr val="3A4F6B"/>
                </a:solidFill>
                <a:latin typeface="Calibri" pitchFamily="34" charset="0"/>
                <a:ea typeface="Calibri" pitchFamily="34" charset="-122"/>
                <a:cs typeface="Calibri" pitchFamily="34" charset="-120"/>
              </a:rPr>
              <a:t>Texas: elastic supply, lower price levels</a:t>
            </a:r>
            <a:endParaRPr lang="en-US" sz="1400" dirty="0"/>
          </a:p>
          <a:p>
            <a:pPr marL="342900" indent="-342900">
              <a:buSzPct val="100000"/>
              <a:buChar char="•"/>
            </a:pPr>
            <a:r>
              <a:rPr lang="en-US" sz="1400" dirty="0">
                <a:solidFill>
                  <a:srgbClr val="3A4F6B"/>
                </a:solidFill>
                <a:latin typeface="Calibri" pitchFamily="34" charset="0"/>
                <a:ea typeface="Calibri" pitchFamily="34" charset="-122"/>
                <a:cs typeface="Calibri" pitchFamily="34" charset="-120"/>
              </a:rPr>
              <a:t>Arizona: rapid Sun Belt growth post-2020</a:t>
            </a:r>
            <a:endParaRPr lang="en-US" sz="1400" dirty="0"/>
          </a:p>
          <a:p>
            <a:pPr marL="342900" indent="-342900">
              <a:buSzPct val="100000"/>
              <a:buChar char="•"/>
            </a:pPr>
            <a:r>
              <a:rPr lang="en-US" sz="1400" dirty="0">
                <a:solidFill>
                  <a:srgbClr val="3A4F6B"/>
                </a:solidFill>
                <a:latin typeface="Calibri" pitchFamily="34" charset="0"/>
                <a:ea typeface="Calibri" pitchFamily="34" charset="-122"/>
                <a:cs typeface="Calibri" pitchFamily="34" charset="-120"/>
              </a:rPr>
              <a:t>No study has tested cross-state heterogeneity in a panel framework with a COVID structural break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Shape 1"/>
          <p:cNvSpPr/>
          <p:nvPr/>
        </p:nvSpPr>
        <p:spPr>
          <a:xfrm>
            <a:off x="0" y="658368"/>
            <a:ext cx="9144000" cy="50292"/>
          </a:xfrm>
          <a:prstGeom prst="rect">
            <a:avLst/>
          </a:prstGeom>
          <a:solidFill>
            <a:srgbClr val="C9993A"/>
          </a:solidFill>
          <a:ln w="12700">
            <a:solidFill>
              <a:srgbClr val="C9993A"/>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Statement of Problem</a:t>
            </a:r>
            <a:endParaRPr lang="en-US" sz="2200" dirty="0"/>
          </a:p>
        </p:txBody>
      </p:sp>
      <p:sp>
        <p:nvSpPr>
          <p:cNvPr id="5" name="Shape 3"/>
          <p:cNvSpPr/>
          <p:nvPr/>
        </p:nvSpPr>
        <p:spPr>
          <a:xfrm>
            <a:off x="0" y="4828032"/>
            <a:ext cx="9144000" cy="310896"/>
          </a:xfrm>
          <a:prstGeom prst="rect">
            <a:avLst/>
          </a:prstGeom>
          <a:solidFill>
            <a:srgbClr val="1B2A4A"/>
          </a:solidFill>
          <a:ln w="12700">
            <a:solidFill>
              <a:srgbClr val="1B2A4A"/>
            </a:solidFill>
            <a:prstDash val="solid"/>
          </a:ln>
        </p:spPr>
      </p:sp>
      <p:sp>
        <p:nvSpPr>
          <p:cNvPr id="6" name="Text 4"/>
          <p:cNvSpPr/>
          <p:nvPr/>
        </p:nvSpPr>
        <p:spPr>
          <a:xfrm>
            <a:off x="274320" y="4828032"/>
            <a:ext cx="7772400" cy="310896"/>
          </a:xfrm>
          <a:prstGeom prst="rect">
            <a:avLst/>
          </a:prstGeom>
          <a:noFill/>
          <a:ln/>
        </p:spPr>
        <p:txBody>
          <a:bodyPr wrap="square" lIns="0" tIns="0" rIns="0" bIns="0" rtlCol="0" anchor="ctr"/>
          <a:lstStyle/>
          <a:p>
            <a:pPr marL="0" indent="0">
              <a:buNone/>
            </a:pPr>
            <a:r>
              <a:rPr lang="en-US" sz="900" dirty="0">
                <a:solidFill>
                  <a:srgbClr val="E3E8F0"/>
                </a:solidFill>
                <a:latin typeface="Calibri" pitchFamily="34" charset="0"/>
                <a:ea typeface="Calibri" pitchFamily="34" charset="-122"/>
                <a:cs typeface="Calibri" pitchFamily="34" charset="-120"/>
              </a:rPr>
              <a:t>Andy Chen  ·  MS Data Science &amp; Analytics  ·  CSU Chico  ·  Proposal Defense</a:t>
            </a:r>
            <a:endParaRPr lang="en-US" sz="900" dirty="0"/>
          </a:p>
        </p:txBody>
      </p:sp>
      <p:sp>
        <p:nvSpPr>
          <p:cNvPr id="7" name="Text 5"/>
          <p:cNvSpPr/>
          <p:nvPr/>
        </p:nvSpPr>
        <p:spPr>
          <a:xfrm>
            <a:off x="8321040" y="4828032"/>
            <a:ext cx="548640" cy="310896"/>
          </a:xfrm>
          <a:prstGeom prst="rect">
            <a:avLst/>
          </a:prstGeom>
          <a:noFill/>
          <a:ln/>
        </p:spPr>
        <p:txBody>
          <a:bodyPr wrap="square" lIns="0" tIns="0" rIns="0" bIns="0" rtlCol="0" anchor="ctr"/>
          <a:lstStyle/>
          <a:p>
            <a:pPr marL="0" indent="0" algn="r">
              <a:buNone/>
            </a:pPr>
            <a:r>
              <a:rPr lang="en-US" sz="900" b="1" dirty="0">
                <a:solidFill>
                  <a:srgbClr val="C9993A"/>
                </a:solidFill>
                <a:latin typeface="Calibri" pitchFamily="34" charset="0"/>
                <a:ea typeface="Calibri" pitchFamily="34" charset="-122"/>
                <a:cs typeface="Calibri" pitchFamily="34" charset="-120"/>
              </a:rPr>
              <a:t>3</a:t>
            </a:r>
            <a:endParaRPr lang="en-US" sz="900" dirty="0"/>
          </a:p>
        </p:txBody>
      </p:sp>
      <p:sp>
        <p:nvSpPr>
          <p:cNvPr id="8" name="Shape 6"/>
          <p:cNvSpPr/>
          <p:nvPr/>
        </p:nvSpPr>
        <p:spPr>
          <a:xfrm>
            <a:off x="320040" y="841248"/>
            <a:ext cx="8503920" cy="1188720"/>
          </a:xfrm>
          <a:prstGeom prst="rect">
            <a:avLst/>
          </a:prstGeom>
          <a:solidFill>
            <a:srgbClr val="1B2A4A"/>
          </a:solidFill>
          <a:ln w="12700">
            <a:solidFill>
              <a:srgbClr val="1B2A4A"/>
            </a:solidFill>
            <a:prstDash val="solid"/>
          </a:ln>
        </p:spPr>
      </p:sp>
      <p:sp>
        <p:nvSpPr>
          <p:cNvPr id="9" name="Text 7"/>
          <p:cNvSpPr/>
          <p:nvPr/>
        </p:nvSpPr>
        <p:spPr>
          <a:xfrm>
            <a:off x="502920" y="841248"/>
            <a:ext cx="8229600" cy="1188720"/>
          </a:xfrm>
          <a:prstGeom prst="rect">
            <a:avLst/>
          </a:prstGeom>
          <a:noFill/>
          <a:ln/>
        </p:spPr>
        <p:txBody>
          <a:bodyPr wrap="square"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Existing research relies on national-level data and reports a single average estimate — masking how states with fundamentally different housing structures respond to the same macroeconomic shocks.</a:t>
            </a:r>
            <a:endParaRPr lang="en-US" sz="1500" dirty="0"/>
          </a:p>
        </p:txBody>
      </p:sp>
      <p:sp>
        <p:nvSpPr>
          <p:cNvPr id="10" name="Shape 8"/>
          <p:cNvSpPr/>
          <p:nvPr/>
        </p:nvSpPr>
        <p:spPr>
          <a:xfrm>
            <a:off x="256032" y="2176272"/>
            <a:ext cx="2788920" cy="2532888"/>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11" name="Shape 9"/>
          <p:cNvSpPr/>
          <p:nvPr/>
        </p:nvSpPr>
        <p:spPr>
          <a:xfrm>
            <a:off x="256032" y="2176272"/>
            <a:ext cx="50292" cy="2532888"/>
          </a:xfrm>
          <a:prstGeom prst="rect">
            <a:avLst/>
          </a:prstGeom>
          <a:solidFill>
            <a:srgbClr val="2D5FA8"/>
          </a:solidFill>
          <a:ln w="12700">
            <a:solidFill>
              <a:srgbClr val="2D5FA8"/>
            </a:solidFill>
            <a:prstDash val="solid"/>
          </a:ln>
        </p:spPr>
      </p:sp>
      <p:sp>
        <p:nvSpPr>
          <p:cNvPr id="12" name="Text 10"/>
          <p:cNvSpPr/>
          <p:nvPr/>
        </p:nvSpPr>
        <p:spPr>
          <a:xfrm>
            <a:off x="420624" y="2231136"/>
            <a:ext cx="2523744" cy="420624"/>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Supply Elasticity</a:t>
            </a:r>
            <a:endParaRPr lang="en-US" sz="1400" dirty="0"/>
          </a:p>
        </p:txBody>
      </p:sp>
      <p:sp>
        <p:nvSpPr>
          <p:cNvPr id="13" name="Text 11"/>
          <p:cNvSpPr/>
          <p:nvPr/>
        </p:nvSpPr>
        <p:spPr>
          <a:xfrm>
            <a:off x="420624" y="2651760"/>
            <a:ext cx="2523744" cy="1965960"/>
          </a:xfrm>
          <a:prstGeom prst="rect">
            <a:avLst/>
          </a:prstGeom>
          <a:noFill/>
          <a:ln/>
        </p:spPr>
        <p:txBody>
          <a:bodyPr wrap="square" rtlCol="0" anchor="ctr"/>
          <a:lstStyle/>
          <a:p>
            <a:pPr marL="0" indent="0">
              <a:buNone/>
            </a:pPr>
            <a:r>
              <a:rPr lang="en-US" sz="1250" dirty="0">
                <a:solidFill>
                  <a:srgbClr val="3A4F6B"/>
                </a:solidFill>
                <a:latin typeface="Calibri" pitchFamily="34" charset="0"/>
                <a:ea typeface="Calibri" pitchFamily="34" charset="-122"/>
                <a:cs typeface="Calibri" pitchFamily="34" charset="-120"/>
              </a:rPr>
              <a:t>Zoning and building restrictions vary widely across states. Inelastic supply amplifies the price impact of demand-side shocks like rate hikes (Glaeser &amp; Gyourko, 2018).</a:t>
            </a:r>
            <a:endParaRPr lang="en-US" sz="1250" dirty="0"/>
          </a:p>
        </p:txBody>
      </p:sp>
      <p:sp>
        <p:nvSpPr>
          <p:cNvPr id="14" name="Shape 12"/>
          <p:cNvSpPr/>
          <p:nvPr/>
        </p:nvSpPr>
        <p:spPr>
          <a:xfrm>
            <a:off x="3163824" y="2176272"/>
            <a:ext cx="2788920" cy="2532888"/>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15" name="Shape 13"/>
          <p:cNvSpPr/>
          <p:nvPr/>
        </p:nvSpPr>
        <p:spPr>
          <a:xfrm>
            <a:off x="3163824" y="2176272"/>
            <a:ext cx="50292" cy="2532888"/>
          </a:xfrm>
          <a:prstGeom prst="rect">
            <a:avLst/>
          </a:prstGeom>
          <a:solidFill>
            <a:srgbClr val="1A7A8A"/>
          </a:solidFill>
          <a:ln w="12700">
            <a:solidFill>
              <a:srgbClr val="1A7A8A"/>
            </a:solidFill>
            <a:prstDash val="solid"/>
          </a:ln>
        </p:spPr>
      </p:sp>
      <p:sp>
        <p:nvSpPr>
          <p:cNvPr id="16" name="Text 14"/>
          <p:cNvSpPr/>
          <p:nvPr/>
        </p:nvSpPr>
        <p:spPr>
          <a:xfrm>
            <a:off x="3328416" y="2231136"/>
            <a:ext cx="2523744" cy="420624"/>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Price Level Variation</a:t>
            </a:r>
            <a:endParaRPr lang="en-US" sz="1400" dirty="0"/>
          </a:p>
        </p:txBody>
      </p:sp>
      <p:sp>
        <p:nvSpPr>
          <p:cNvPr id="17" name="Text 15"/>
          <p:cNvSpPr/>
          <p:nvPr/>
        </p:nvSpPr>
        <p:spPr>
          <a:xfrm>
            <a:off x="3328416" y="2651760"/>
            <a:ext cx="2523744" cy="1965960"/>
          </a:xfrm>
          <a:prstGeom prst="rect">
            <a:avLst/>
          </a:prstGeom>
          <a:noFill/>
          <a:ln/>
        </p:spPr>
        <p:txBody>
          <a:bodyPr wrap="square" rtlCol="0" anchor="ctr"/>
          <a:lstStyle/>
          <a:p>
            <a:pPr marL="0" indent="0">
              <a:buNone/>
            </a:pPr>
            <a:r>
              <a:rPr lang="en-US" sz="1250" dirty="0">
                <a:solidFill>
                  <a:srgbClr val="3A4F6B"/>
                </a:solidFill>
                <a:latin typeface="Calibri" pitchFamily="34" charset="0"/>
                <a:ea typeface="Calibri" pitchFamily="34" charset="-122"/>
                <a:cs typeface="Calibri" pitchFamily="34" charset="-120"/>
              </a:rPr>
              <a:t>A 1% rate increase has very different affordability consequences in CA/NY versus TX or OH. Pooled national models cannot capture this asymmetry.</a:t>
            </a:r>
            <a:endParaRPr lang="en-US" sz="1250" dirty="0"/>
          </a:p>
        </p:txBody>
      </p:sp>
      <p:sp>
        <p:nvSpPr>
          <p:cNvPr id="18" name="Shape 16"/>
          <p:cNvSpPr/>
          <p:nvPr/>
        </p:nvSpPr>
        <p:spPr>
          <a:xfrm>
            <a:off x="6071616" y="2176272"/>
            <a:ext cx="2788920" cy="2532888"/>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19" name="Shape 17"/>
          <p:cNvSpPr/>
          <p:nvPr/>
        </p:nvSpPr>
        <p:spPr>
          <a:xfrm>
            <a:off x="6071616" y="2176272"/>
            <a:ext cx="50292" cy="2532888"/>
          </a:xfrm>
          <a:prstGeom prst="rect">
            <a:avLst/>
          </a:prstGeom>
          <a:solidFill>
            <a:srgbClr val="C9993A"/>
          </a:solidFill>
          <a:ln w="12700">
            <a:solidFill>
              <a:srgbClr val="C9993A"/>
            </a:solidFill>
            <a:prstDash val="solid"/>
          </a:ln>
        </p:spPr>
      </p:sp>
      <p:sp>
        <p:nvSpPr>
          <p:cNvPr id="20" name="Text 18"/>
          <p:cNvSpPr/>
          <p:nvPr/>
        </p:nvSpPr>
        <p:spPr>
          <a:xfrm>
            <a:off x="6236208" y="2231136"/>
            <a:ext cx="2523744" cy="420624"/>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Post-COVID Regime Change</a:t>
            </a:r>
            <a:endParaRPr lang="en-US" sz="1400" dirty="0"/>
          </a:p>
        </p:txBody>
      </p:sp>
      <p:sp>
        <p:nvSpPr>
          <p:cNvPr id="21" name="Text 19"/>
          <p:cNvSpPr/>
          <p:nvPr/>
        </p:nvSpPr>
        <p:spPr>
          <a:xfrm>
            <a:off x="6236208" y="2651760"/>
            <a:ext cx="2523744" cy="1965960"/>
          </a:xfrm>
          <a:prstGeom prst="rect">
            <a:avLst/>
          </a:prstGeom>
          <a:noFill/>
          <a:ln/>
        </p:spPr>
        <p:txBody>
          <a:bodyPr wrap="square" rtlCol="0" anchor="ctr"/>
          <a:lstStyle/>
          <a:p>
            <a:pPr marL="0" indent="0">
              <a:buNone/>
            </a:pPr>
            <a:r>
              <a:rPr lang="en-US" sz="1250" dirty="0">
                <a:solidFill>
                  <a:srgbClr val="3A4F6B"/>
                </a:solidFill>
                <a:latin typeface="Calibri" pitchFamily="34" charset="0"/>
                <a:ea typeface="Calibri" pitchFamily="34" charset="-122"/>
                <a:cs typeface="Calibri" pitchFamily="34" charset="-120"/>
              </a:rPr>
              <a:t>The pandemic reshaped migration, remote work, and demand patterns. The pre-2020 relationship between macro shocks and housing may no longer hold.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Shape 1"/>
          <p:cNvSpPr/>
          <p:nvPr/>
        </p:nvSpPr>
        <p:spPr>
          <a:xfrm>
            <a:off x="0" y="658368"/>
            <a:ext cx="9144000" cy="50292"/>
          </a:xfrm>
          <a:prstGeom prst="rect">
            <a:avLst/>
          </a:prstGeom>
          <a:solidFill>
            <a:srgbClr val="C9993A"/>
          </a:solidFill>
          <a:ln w="12700">
            <a:solidFill>
              <a:srgbClr val="C9993A"/>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Research Objectives &amp; Hypotheses</a:t>
            </a:r>
            <a:endParaRPr lang="en-US" sz="2200" dirty="0"/>
          </a:p>
        </p:txBody>
      </p:sp>
      <p:sp>
        <p:nvSpPr>
          <p:cNvPr id="5" name="Shape 3"/>
          <p:cNvSpPr/>
          <p:nvPr/>
        </p:nvSpPr>
        <p:spPr>
          <a:xfrm>
            <a:off x="0" y="4828032"/>
            <a:ext cx="9144000" cy="310896"/>
          </a:xfrm>
          <a:prstGeom prst="rect">
            <a:avLst/>
          </a:prstGeom>
          <a:solidFill>
            <a:srgbClr val="1B2A4A"/>
          </a:solidFill>
          <a:ln w="12700">
            <a:solidFill>
              <a:srgbClr val="1B2A4A"/>
            </a:solidFill>
            <a:prstDash val="solid"/>
          </a:ln>
        </p:spPr>
      </p:sp>
      <p:sp>
        <p:nvSpPr>
          <p:cNvPr id="6" name="Text 4"/>
          <p:cNvSpPr/>
          <p:nvPr/>
        </p:nvSpPr>
        <p:spPr>
          <a:xfrm>
            <a:off x="274320" y="4828032"/>
            <a:ext cx="7772400" cy="310896"/>
          </a:xfrm>
          <a:prstGeom prst="rect">
            <a:avLst/>
          </a:prstGeom>
          <a:noFill/>
          <a:ln/>
        </p:spPr>
        <p:txBody>
          <a:bodyPr wrap="square" lIns="0" tIns="0" rIns="0" bIns="0" rtlCol="0" anchor="ctr"/>
          <a:lstStyle/>
          <a:p>
            <a:pPr marL="0" indent="0">
              <a:buNone/>
            </a:pPr>
            <a:r>
              <a:rPr lang="en-US" sz="900" dirty="0">
                <a:solidFill>
                  <a:srgbClr val="E3E8F0"/>
                </a:solidFill>
                <a:latin typeface="Calibri" pitchFamily="34" charset="0"/>
                <a:ea typeface="Calibri" pitchFamily="34" charset="-122"/>
                <a:cs typeface="Calibri" pitchFamily="34" charset="-120"/>
              </a:rPr>
              <a:t>Andy Chen  ·  MS Data Science &amp; Analytics  ·  CSU Chico  ·  Proposal Defense</a:t>
            </a:r>
            <a:endParaRPr lang="en-US" sz="900" dirty="0"/>
          </a:p>
        </p:txBody>
      </p:sp>
      <p:sp>
        <p:nvSpPr>
          <p:cNvPr id="7" name="Text 5"/>
          <p:cNvSpPr/>
          <p:nvPr/>
        </p:nvSpPr>
        <p:spPr>
          <a:xfrm>
            <a:off x="8321040" y="4828032"/>
            <a:ext cx="548640" cy="310896"/>
          </a:xfrm>
          <a:prstGeom prst="rect">
            <a:avLst/>
          </a:prstGeom>
          <a:noFill/>
          <a:ln/>
        </p:spPr>
        <p:txBody>
          <a:bodyPr wrap="square" lIns="0" tIns="0" rIns="0" bIns="0" rtlCol="0" anchor="ctr"/>
          <a:lstStyle/>
          <a:p>
            <a:pPr marL="0" indent="0" algn="r">
              <a:buNone/>
            </a:pPr>
            <a:r>
              <a:rPr lang="en-US" sz="900" b="1" dirty="0">
                <a:solidFill>
                  <a:srgbClr val="C9993A"/>
                </a:solidFill>
                <a:latin typeface="Calibri" pitchFamily="34" charset="0"/>
                <a:ea typeface="Calibri" pitchFamily="34" charset="-122"/>
                <a:cs typeface="Calibri" pitchFamily="34" charset="-120"/>
              </a:rPr>
              <a:t>4</a:t>
            </a:r>
            <a:endParaRPr lang="en-US" sz="900" dirty="0"/>
          </a:p>
        </p:txBody>
      </p:sp>
      <p:sp>
        <p:nvSpPr>
          <p:cNvPr id="8" name="Shape 6"/>
          <p:cNvSpPr/>
          <p:nvPr/>
        </p:nvSpPr>
        <p:spPr>
          <a:xfrm>
            <a:off x="822960" y="786384"/>
            <a:ext cx="3794760" cy="274320"/>
          </a:xfrm>
          <a:prstGeom prst="rect">
            <a:avLst/>
          </a:prstGeom>
          <a:solidFill>
            <a:srgbClr val="1B2A4A"/>
          </a:solidFill>
          <a:ln w="12700">
            <a:solidFill>
              <a:srgbClr val="1B2A4A"/>
            </a:solidFill>
            <a:prstDash val="solid"/>
          </a:ln>
        </p:spPr>
      </p:sp>
      <p:sp>
        <p:nvSpPr>
          <p:cNvPr id="9" name="Text 7"/>
          <p:cNvSpPr/>
          <p:nvPr/>
        </p:nvSpPr>
        <p:spPr>
          <a:xfrm>
            <a:off x="822960" y="786384"/>
            <a:ext cx="379476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Research Question</a:t>
            </a:r>
            <a:endParaRPr lang="en-US" sz="1100" dirty="0"/>
          </a:p>
        </p:txBody>
      </p:sp>
      <p:sp>
        <p:nvSpPr>
          <p:cNvPr id="10" name="Shape 8"/>
          <p:cNvSpPr/>
          <p:nvPr/>
        </p:nvSpPr>
        <p:spPr>
          <a:xfrm>
            <a:off x="4754880" y="786384"/>
            <a:ext cx="4133088" cy="274320"/>
          </a:xfrm>
          <a:prstGeom prst="rect">
            <a:avLst/>
          </a:prstGeom>
          <a:solidFill>
            <a:srgbClr val="1B2A4A"/>
          </a:solidFill>
          <a:ln w="12700">
            <a:solidFill>
              <a:srgbClr val="1B2A4A"/>
            </a:solidFill>
            <a:prstDash val="solid"/>
          </a:ln>
        </p:spPr>
      </p:sp>
      <p:sp>
        <p:nvSpPr>
          <p:cNvPr id="11" name="Text 9"/>
          <p:cNvSpPr/>
          <p:nvPr/>
        </p:nvSpPr>
        <p:spPr>
          <a:xfrm>
            <a:off x="4754880" y="786384"/>
            <a:ext cx="4133088"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What This Study Tests</a:t>
            </a:r>
            <a:endParaRPr lang="en-US" sz="1100" dirty="0"/>
          </a:p>
        </p:txBody>
      </p:sp>
      <p:sp>
        <p:nvSpPr>
          <p:cNvPr id="12" name="Shape 10"/>
          <p:cNvSpPr/>
          <p:nvPr/>
        </p:nvSpPr>
        <p:spPr>
          <a:xfrm>
            <a:off x="256032" y="1097280"/>
            <a:ext cx="4361688" cy="841248"/>
          </a:xfrm>
          <a:prstGeom prst="rect">
            <a:avLst/>
          </a:prstGeom>
          <a:solidFill>
            <a:srgbClr val="FFFFFF"/>
          </a:solidFill>
          <a:ln w="12700">
            <a:solidFill>
              <a:srgbClr val="E3E8F0"/>
            </a:solidFill>
            <a:prstDash val="solid"/>
          </a:ln>
          <a:effectLst>
            <a:outerShdw blurRad="50800" dist="12700" dir="8100000" algn="bl" rotWithShape="0">
              <a:srgbClr val="000000">
                <a:alpha val="8000"/>
              </a:srgbClr>
            </a:outerShdw>
          </a:effectLst>
        </p:spPr>
      </p:sp>
      <p:sp>
        <p:nvSpPr>
          <p:cNvPr id="13" name="Shape 11"/>
          <p:cNvSpPr/>
          <p:nvPr/>
        </p:nvSpPr>
        <p:spPr>
          <a:xfrm>
            <a:off x="256032" y="1097280"/>
            <a:ext cx="502920" cy="841248"/>
          </a:xfrm>
          <a:prstGeom prst="rect">
            <a:avLst/>
          </a:prstGeom>
          <a:solidFill>
            <a:srgbClr val="1B2A4A"/>
          </a:solidFill>
          <a:ln w="12700">
            <a:solidFill>
              <a:srgbClr val="1B2A4A"/>
            </a:solidFill>
            <a:prstDash val="solid"/>
          </a:ln>
        </p:spPr>
      </p:sp>
      <p:sp>
        <p:nvSpPr>
          <p:cNvPr id="14" name="Text 12"/>
          <p:cNvSpPr/>
          <p:nvPr/>
        </p:nvSpPr>
        <p:spPr>
          <a:xfrm>
            <a:off x="256032" y="1097280"/>
            <a:ext cx="502920" cy="8412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Q1</a:t>
            </a:r>
            <a:endParaRPr lang="en-US" sz="1200" dirty="0"/>
          </a:p>
        </p:txBody>
      </p:sp>
      <p:sp>
        <p:nvSpPr>
          <p:cNvPr id="15" name="Text 13"/>
          <p:cNvSpPr/>
          <p:nvPr/>
        </p:nvSpPr>
        <p:spPr>
          <a:xfrm>
            <a:off x="841248" y="1143000"/>
            <a:ext cx="1371600" cy="256032"/>
          </a:xfrm>
          <a:prstGeom prst="rect">
            <a:avLst/>
          </a:prstGeom>
          <a:noFill/>
          <a:ln/>
        </p:spPr>
        <p:txBody>
          <a:bodyPr wrap="square"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Baseline</a:t>
            </a:r>
            <a:endParaRPr lang="en-US" sz="1100" dirty="0"/>
          </a:p>
        </p:txBody>
      </p:sp>
      <p:sp>
        <p:nvSpPr>
          <p:cNvPr id="16" name="Text 14"/>
          <p:cNvSpPr/>
          <p:nvPr/>
        </p:nvSpPr>
        <p:spPr>
          <a:xfrm>
            <a:off x="841248" y="1389888"/>
            <a:ext cx="3657600" cy="512064"/>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How do inflation and interest rate changes affect housing activity at the national level?</a:t>
            </a:r>
            <a:endParaRPr lang="en-US" sz="1150" dirty="0"/>
          </a:p>
        </p:txBody>
      </p:sp>
      <p:sp>
        <p:nvSpPr>
          <p:cNvPr id="17" name="Shape 15"/>
          <p:cNvSpPr/>
          <p:nvPr/>
        </p:nvSpPr>
        <p:spPr>
          <a:xfrm>
            <a:off x="4754880" y="1097280"/>
            <a:ext cx="4133088" cy="841248"/>
          </a:xfrm>
          <a:prstGeom prst="rect">
            <a:avLst/>
          </a:prstGeom>
          <a:solidFill>
            <a:srgbClr val="F5F7FA"/>
          </a:solidFill>
          <a:ln w="12700">
            <a:solidFill>
              <a:srgbClr val="E3E8F0"/>
            </a:solidFill>
            <a:prstDash val="solid"/>
          </a:ln>
          <a:effectLst>
            <a:outerShdw blurRad="50800" dist="12700" dir="8100000" algn="bl" rotWithShape="0">
              <a:srgbClr val="000000">
                <a:alpha val="8000"/>
              </a:srgbClr>
            </a:outerShdw>
          </a:effectLst>
        </p:spPr>
      </p:sp>
      <p:sp>
        <p:nvSpPr>
          <p:cNvPr id="18" name="Shape 16"/>
          <p:cNvSpPr/>
          <p:nvPr/>
        </p:nvSpPr>
        <p:spPr>
          <a:xfrm>
            <a:off x="4754880" y="1097280"/>
            <a:ext cx="50292" cy="841248"/>
          </a:xfrm>
          <a:prstGeom prst="rect">
            <a:avLst/>
          </a:prstGeom>
          <a:solidFill>
            <a:srgbClr val="1B2A4A"/>
          </a:solidFill>
          <a:ln w="12700">
            <a:solidFill>
              <a:srgbClr val="1B2A4A"/>
            </a:solidFill>
            <a:prstDash val="solid"/>
          </a:ln>
        </p:spPr>
      </p:sp>
      <p:sp>
        <p:nvSpPr>
          <p:cNvPr id="19" name="Text 17"/>
          <p:cNvSpPr/>
          <p:nvPr/>
        </p:nvSpPr>
        <p:spPr>
          <a:xfrm>
            <a:off x="4864608" y="1170432"/>
            <a:ext cx="3913632" cy="713232"/>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Tests whether inflation and interest rate changes are associated with national housing activity, and in which direction.</a:t>
            </a:r>
            <a:endParaRPr lang="en-US" sz="1150" dirty="0"/>
          </a:p>
        </p:txBody>
      </p:sp>
      <p:sp>
        <p:nvSpPr>
          <p:cNvPr id="20" name="Shape 18"/>
          <p:cNvSpPr/>
          <p:nvPr/>
        </p:nvSpPr>
        <p:spPr>
          <a:xfrm>
            <a:off x="256032" y="1993392"/>
            <a:ext cx="4361688" cy="841248"/>
          </a:xfrm>
          <a:prstGeom prst="rect">
            <a:avLst/>
          </a:prstGeom>
          <a:solidFill>
            <a:srgbClr val="FFFFFF"/>
          </a:solidFill>
          <a:ln w="12700">
            <a:solidFill>
              <a:srgbClr val="E3E8F0"/>
            </a:solidFill>
            <a:prstDash val="solid"/>
          </a:ln>
          <a:effectLst>
            <a:outerShdw blurRad="50800" dist="12700" dir="8100000" algn="bl" rotWithShape="0">
              <a:srgbClr val="000000">
                <a:alpha val="8000"/>
              </a:srgbClr>
            </a:outerShdw>
          </a:effectLst>
        </p:spPr>
      </p:sp>
      <p:sp>
        <p:nvSpPr>
          <p:cNvPr id="21" name="Shape 19"/>
          <p:cNvSpPr/>
          <p:nvPr/>
        </p:nvSpPr>
        <p:spPr>
          <a:xfrm>
            <a:off x="256032" y="1993392"/>
            <a:ext cx="502920" cy="841248"/>
          </a:xfrm>
          <a:prstGeom prst="rect">
            <a:avLst/>
          </a:prstGeom>
          <a:solidFill>
            <a:srgbClr val="C9993A"/>
          </a:solidFill>
          <a:ln w="12700">
            <a:solidFill>
              <a:srgbClr val="C9993A"/>
            </a:solidFill>
            <a:prstDash val="solid"/>
          </a:ln>
        </p:spPr>
      </p:sp>
      <p:sp>
        <p:nvSpPr>
          <p:cNvPr id="22" name="Text 20"/>
          <p:cNvSpPr/>
          <p:nvPr/>
        </p:nvSpPr>
        <p:spPr>
          <a:xfrm>
            <a:off x="256032" y="1993392"/>
            <a:ext cx="502920" cy="8412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Q2</a:t>
            </a:r>
            <a:endParaRPr lang="en-US" sz="1200" dirty="0"/>
          </a:p>
        </p:txBody>
      </p:sp>
      <p:sp>
        <p:nvSpPr>
          <p:cNvPr id="23" name="Text 21"/>
          <p:cNvSpPr/>
          <p:nvPr/>
        </p:nvSpPr>
        <p:spPr>
          <a:xfrm>
            <a:off x="841248" y="2039112"/>
            <a:ext cx="1371600" cy="256032"/>
          </a:xfrm>
          <a:prstGeom prst="rect">
            <a:avLst/>
          </a:prstGeom>
          <a:noFill/>
          <a:ln/>
        </p:spPr>
        <p:txBody>
          <a:bodyPr wrap="square" rtlCol="0" anchor="ctr"/>
          <a:lstStyle/>
          <a:p>
            <a:pPr marL="0" indent="0">
              <a:buNone/>
            </a:pPr>
            <a:r>
              <a:rPr lang="en-US" sz="1100" b="1" dirty="0">
                <a:solidFill>
                  <a:srgbClr val="C9993A"/>
                </a:solidFill>
                <a:latin typeface="Calibri" pitchFamily="34" charset="0"/>
                <a:ea typeface="Calibri" pitchFamily="34" charset="-122"/>
                <a:cs typeface="Calibri" pitchFamily="34" charset="-120"/>
              </a:rPr>
              <a:t>State Heterogeneity</a:t>
            </a:r>
            <a:endParaRPr lang="en-US" sz="1100" dirty="0"/>
          </a:p>
        </p:txBody>
      </p:sp>
      <p:sp>
        <p:nvSpPr>
          <p:cNvPr id="24" name="Text 22"/>
          <p:cNvSpPr/>
          <p:nvPr/>
        </p:nvSpPr>
        <p:spPr>
          <a:xfrm>
            <a:off x="841248" y="2286000"/>
            <a:ext cx="3657600" cy="512064"/>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Do those effects differ across states with structurally different housing markets?</a:t>
            </a:r>
            <a:endParaRPr lang="en-US" sz="1150" dirty="0"/>
          </a:p>
        </p:txBody>
      </p:sp>
      <p:sp>
        <p:nvSpPr>
          <p:cNvPr id="25" name="Shape 23"/>
          <p:cNvSpPr/>
          <p:nvPr/>
        </p:nvSpPr>
        <p:spPr>
          <a:xfrm>
            <a:off x="4754880" y="1993392"/>
            <a:ext cx="4133088" cy="841248"/>
          </a:xfrm>
          <a:prstGeom prst="rect">
            <a:avLst/>
          </a:prstGeom>
          <a:solidFill>
            <a:srgbClr val="F5F7FA"/>
          </a:solidFill>
          <a:ln w="12700">
            <a:solidFill>
              <a:srgbClr val="E3E8F0"/>
            </a:solidFill>
            <a:prstDash val="solid"/>
          </a:ln>
          <a:effectLst>
            <a:outerShdw blurRad="50800" dist="12700" dir="8100000" algn="bl" rotWithShape="0">
              <a:srgbClr val="000000">
                <a:alpha val="8000"/>
              </a:srgbClr>
            </a:outerShdw>
          </a:effectLst>
        </p:spPr>
      </p:sp>
      <p:sp>
        <p:nvSpPr>
          <p:cNvPr id="26" name="Shape 24"/>
          <p:cNvSpPr/>
          <p:nvPr/>
        </p:nvSpPr>
        <p:spPr>
          <a:xfrm>
            <a:off x="4754880" y="1993392"/>
            <a:ext cx="50292" cy="841248"/>
          </a:xfrm>
          <a:prstGeom prst="rect">
            <a:avLst/>
          </a:prstGeom>
          <a:solidFill>
            <a:srgbClr val="C9993A"/>
          </a:solidFill>
          <a:ln w="12700">
            <a:solidFill>
              <a:srgbClr val="C9993A"/>
            </a:solidFill>
            <a:prstDash val="solid"/>
          </a:ln>
        </p:spPr>
      </p:sp>
      <p:sp>
        <p:nvSpPr>
          <p:cNvPr id="27" name="Text 25"/>
          <p:cNvSpPr/>
          <p:nvPr/>
        </p:nvSpPr>
        <p:spPr>
          <a:xfrm>
            <a:off x="4864608" y="2066544"/>
            <a:ext cx="3913632" cy="713232"/>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Tests whether the macro–housing relationship differs across supply-constrained vs. elastic-supply states.</a:t>
            </a:r>
            <a:endParaRPr lang="en-US" sz="1150" dirty="0"/>
          </a:p>
        </p:txBody>
      </p:sp>
      <p:sp>
        <p:nvSpPr>
          <p:cNvPr id="28" name="Shape 26"/>
          <p:cNvSpPr/>
          <p:nvPr/>
        </p:nvSpPr>
        <p:spPr>
          <a:xfrm>
            <a:off x="256032" y="2889504"/>
            <a:ext cx="4361688" cy="841248"/>
          </a:xfrm>
          <a:prstGeom prst="rect">
            <a:avLst/>
          </a:prstGeom>
          <a:solidFill>
            <a:srgbClr val="FFFFFF"/>
          </a:solidFill>
          <a:ln w="12700">
            <a:solidFill>
              <a:srgbClr val="E3E8F0"/>
            </a:solidFill>
            <a:prstDash val="solid"/>
          </a:ln>
          <a:effectLst>
            <a:outerShdw blurRad="50800" dist="12700" dir="8100000" algn="bl" rotWithShape="0">
              <a:srgbClr val="000000">
                <a:alpha val="8000"/>
              </a:srgbClr>
            </a:outerShdw>
          </a:effectLst>
        </p:spPr>
      </p:sp>
      <p:sp>
        <p:nvSpPr>
          <p:cNvPr id="29" name="Shape 27"/>
          <p:cNvSpPr/>
          <p:nvPr/>
        </p:nvSpPr>
        <p:spPr>
          <a:xfrm>
            <a:off x="256032" y="2889504"/>
            <a:ext cx="502920" cy="841248"/>
          </a:xfrm>
          <a:prstGeom prst="rect">
            <a:avLst/>
          </a:prstGeom>
          <a:solidFill>
            <a:srgbClr val="1A7A8A"/>
          </a:solidFill>
          <a:ln w="12700">
            <a:solidFill>
              <a:srgbClr val="1A7A8A"/>
            </a:solidFill>
            <a:prstDash val="solid"/>
          </a:ln>
        </p:spPr>
      </p:sp>
      <p:sp>
        <p:nvSpPr>
          <p:cNvPr id="30" name="Text 28"/>
          <p:cNvSpPr/>
          <p:nvPr/>
        </p:nvSpPr>
        <p:spPr>
          <a:xfrm>
            <a:off x="256032" y="2889504"/>
            <a:ext cx="502920" cy="8412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Q3</a:t>
            </a:r>
            <a:endParaRPr lang="en-US" sz="1200" dirty="0"/>
          </a:p>
        </p:txBody>
      </p:sp>
      <p:sp>
        <p:nvSpPr>
          <p:cNvPr id="31" name="Text 29"/>
          <p:cNvSpPr/>
          <p:nvPr/>
        </p:nvSpPr>
        <p:spPr>
          <a:xfrm>
            <a:off x="841248" y="2935224"/>
            <a:ext cx="1371600" cy="256032"/>
          </a:xfrm>
          <a:prstGeom prst="rect">
            <a:avLst/>
          </a:prstGeom>
          <a:noFill/>
          <a:ln/>
        </p:spPr>
        <p:txBody>
          <a:bodyPr wrap="square" rtlCol="0" anchor="ctr"/>
          <a:lstStyle/>
          <a:p>
            <a:pPr marL="0" indent="0">
              <a:buNone/>
            </a:pPr>
            <a:r>
              <a:rPr lang="en-US" sz="1100" b="1" dirty="0">
                <a:solidFill>
                  <a:srgbClr val="1A7A8A"/>
                </a:solidFill>
                <a:latin typeface="Calibri" pitchFamily="34" charset="0"/>
                <a:ea typeface="Calibri" pitchFamily="34" charset="-122"/>
                <a:cs typeface="Calibri" pitchFamily="34" charset="-120"/>
              </a:rPr>
              <a:t>COVID Regime Shift</a:t>
            </a:r>
            <a:endParaRPr lang="en-US" sz="1100" dirty="0"/>
          </a:p>
        </p:txBody>
      </p:sp>
      <p:sp>
        <p:nvSpPr>
          <p:cNvPr id="32" name="Text 30"/>
          <p:cNvSpPr/>
          <p:nvPr/>
        </p:nvSpPr>
        <p:spPr>
          <a:xfrm>
            <a:off x="841248" y="3182112"/>
            <a:ext cx="3657600" cy="512064"/>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Did the macroeconomic–housing relationship change after Q1 2020?</a:t>
            </a:r>
            <a:endParaRPr lang="en-US" sz="1150" dirty="0"/>
          </a:p>
        </p:txBody>
      </p:sp>
      <p:sp>
        <p:nvSpPr>
          <p:cNvPr id="33" name="Shape 31"/>
          <p:cNvSpPr/>
          <p:nvPr/>
        </p:nvSpPr>
        <p:spPr>
          <a:xfrm>
            <a:off x="4754880" y="2889504"/>
            <a:ext cx="4133088" cy="841248"/>
          </a:xfrm>
          <a:prstGeom prst="rect">
            <a:avLst/>
          </a:prstGeom>
          <a:solidFill>
            <a:srgbClr val="F5F7FA"/>
          </a:solidFill>
          <a:ln w="12700">
            <a:solidFill>
              <a:srgbClr val="E3E8F0"/>
            </a:solidFill>
            <a:prstDash val="solid"/>
          </a:ln>
          <a:effectLst>
            <a:outerShdw blurRad="50800" dist="12700" dir="8100000" algn="bl" rotWithShape="0">
              <a:srgbClr val="000000">
                <a:alpha val="8000"/>
              </a:srgbClr>
            </a:outerShdw>
          </a:effectLst>
        </p:spPr>
      </p:sp>
      <p:sp>
        <p:nvSpPr>
          <p:cNvPr id="34" name="Shape 32"/>
          <p:cNvSpPr/>
          <p:nvPr/>
        </p:nvSpPr>
        <p:spPr>
          <a:xfrm>
            <a:off x="4754880" y="2889504"/>
            <a:ext cx="50292" cy="841248"/>
          </a:xfrm>
          <a:prstGeom prst="rect">
            <a:avLst/>
          </a:prstGeom>
          <a:solidFill>
            <a:srgbClr val="1A7A8A"/>
          </a:solidFill>
          <a:ln w="12700">
            <a:solidFill>
              <a:srgbClr val="1A7A8A"/>
            </a:solidFill>
            <a:prstDash val="solid"/>
          </a:ln>
        </p:spPr>
      </p:sp>
      <p:sp>
        <p:nvSpPr>
          <p:cNvPr id="35" name="Text 33"/>
          <p:cNvSpPr/>
          <p:nvPr/>
        </p:nvSpPr>
        <p:spPr>
          <a:xfrm>
            <a:off x="4864608" y="2962656"/>
            <a:ext cx="3913632" cy="713232"/>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Tests whether a structural break exists at Q1 2020 — i.e., whether the pandemic changed the macro–housing dynamic.</a:t>
            </a:r>
            <a:endParaRPr lang="en-US" sz="1150" dirty="0"/>
          </a:p>
        </p:txBody>
      </p:sp>
      <p:sp>
        <p:nvSpPr>
          <p:cNvPr id="36" name="Shape 34"/>
          <p:cNvSpPr/>
          <p:nvPr/>
        </p:nvSpPr>
        <p:spPr>
          <a:xfrm>
            <a:off x="256032" y="3785616"/>
            <a:ext cx="4361688" cy="841248"/>
          </a:xfrm>
          <a:prstGeom prst="rect">
            <a:avLst/>
          </a:prstGeom>
          <a:solidFill>
            <a:srgbClr val="FFFFFF"/>
          </a:solidFill>
          <a:ln w="12700">
            <a:solidFill>
              <a:srgbClr val="E3E8F0"/>
            </a:solidFill>
            <a:prstDash val="solid"/>
          </a:ln>
          <a:effectLst>
            <a:outerShdw blurRad="50800" dist="12700" dir="8100000" algn="bl" rotWithShape="0">
              <a:srgbClr val="000000">
                <a:alpha val="8000"/>
              </a:srgbClr>
            </a:outerShdw>
          </a:effectLst>
        </p:spPr>
      </p:sp>
      <p:sp>
        <p:nvSpPr>
          <p:cNvPr id="37" name="Shape 35"/>
          <p:cNvSpPr/>
          <p:nvPr/>
        </p:nvSpPr>
        <p:spPr>
          <a:xfrm>
            <a:off x="256032" y="3785616"/>
            <a:ext cx="502920" cy="841248"/>
          </a:xfrm>
          <a:prstGeom prst="rect">
            <a:avLst/>
          </a:prstGeom>
          <a:solidFill>
            <a:srgbClr val="2D5FA8"/>
          </a:solidFill>
          <a:ln w="12700">
            <a:solidFill>
              <a:srgbClr val="2D5FA8"/>
            </a:solidFill>
            <a:prstDash val="solid"/>
          </a:ln>
        </p:spPr>
      </p:sp>
      <p:sp>
        <p:nvSpPr>
          <p:cNvPr id="38" name="Text 36"/>
          <p:cNvSpPr/>
          <p:nvPr/>
        </p:nvSpPr>
        <p:spPr>
          <a:xfrm>
            <a:off x="256032" y="3785616"/>
            <a:ext cx="502920" cy="8412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Q4</a:t>
            </a:r>
            <a:endParaRPr lang="en-US" sz="1200" dirty="0"/>
          </a:p>
        </p:txBody>
      </p:sp>
      <p:sp>
        <p:nvSpPr>
          <p:cNvPr id="39" name="Text 37"/>
          <p:cNvSpPr/>
          <p:nvPr/>
        </p:nvSpPr>
        <p:spPr>
          <a:xfrm>
            <a:off x="841248" y="3831336"/>
            <a:ext cx="1371600" cy="256032"/>
          </a:xfrm>
          <a:prstGeom prst="rect">
            <a:avLst/>
          </a:prstGeom>
          <a:noFill/>
          <a:ln/>
        </p:spPr>
        <p:txBody>
          <a:bodyPr wrap="square" rtlCol="0" anchor="ctr"/>
          <a:lstStyle/>
          <a:p>
            <a:pPr marL="0" indent="0">
              <a:buNone/>
            </a:pPr>
            <a:r>
              <a:rPr lang="en-US" sz="1100" b="1" dirty="0">
                <a:solidFill>
                  <a:srgbClr val="2D5FA8"/>
                </a:solidFill>
                <a:latin typeface="Calibri" pitchFamily="34" charset="0"/>
                <a:ea typeface="Calibri" pitchFamily="34" charset="-122"/>
                <a:cs typeface="Calibri" pitchFamily="34" charset="-120"/>
              </a:rPr>
              <a:t>Predictive Modeling</a:t>
            </a:r>
            <a:endParaRPr lang="en-US" sz="1100" dirty="0"/>
          </a:p>
        </p:txBody>
      </p:sp>
      <p:sp>
        <p:nvSpPr>
          <p:cNvPr id="40" name="Text 38"/>
          <p:cNvSpPr/>
          <p:nvPr/>
        </p:nvSpPr>
        <p:spPr>
          <a:xfrm>
            <a:off x="841248" y="4078224"/>
            <a:ext cx="3657600" cy="512064"/>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Can we forecast housing activity using inflation, interest rates, and state-level house prices?</a:t>
            </a:r>
            <a:endParaRPr lang="en-US" sz="1150" dirty="0"/>
          </a:p>
        </p:txBody>
      </p:sp>
      <p:sp>
        <p:nvSpPr>
          <p:cNvPr id="41" name="Shape 39"/>
          <p:cNvSpPr/>
          <p:nvPr/>
        </p:nvSpPr>
        <p:spPr>
          <a:xfrm>
            <a:off x="4754880" y="3785616"/>
            <a:ext cx="4133088" cy="841248"/>
          </a:xfrm>
          <a:prstGeom prst="rect">
            <a:avLst/>
          </a:prstGeom>
          <a:solidFill>
            <a:srgbClr val="F5F7FA"/>
          </a:solidFill>
          <a:ln w="12700">
            <a:solidFill>
              <a:srgbClr val="E3E8F0"/>
            </a:solidFill>
            <a:prstDash val="solid"/>
          </a:ln>
          <a:effectLst>
            <a:outerShdw blurRad="50800" dist="12700" dir="8100000" algn="bl" rotWithShape="0">
              <a:srgbClr val="000000">
                <a:alpha val="8000"/>
              </a:srgbClr>
            </a:outerShdw>
          </a:effectLst>
        </p:spPr>
      </p:sp>
      <p:sp>
        <p:nvSpPr>
          <p:cNvPr id="42" name="Shape 40"/>
          <p:cNvSpPr/>
          <p:nvPr/>
        </p:nvSpPr>
        <p:spPr>
          <a:xfrm>
            <a:off x="4754880" y="3785616"/>
            <a:ext cx="50292" cy="841248"/>
          </a:xfrm>
          <a:prstGeom prst="rect">
            <a:avLst/>
          </a:prstGeom>
          <a:solidFill>
            <a:srgbClr val="2D5FA8"/>
          </a:solidFill>
          <a:ln w="12700">
            <a:solidFill>
              <a:srgbClr val="2D5FA8"/>
            </a:solidFill>
            <a:prstDash val="solid"/>
          </a:ln>
        </p:spPr>
      </p:sp>
      <p:sp>
        <p:nvSpPr>
          <p:cNvPr id="43" name="Text 41"/>
          <p:cNvSpPr/>
          <p:nvPr/>
        </p:nvSpPr>
        <p:spPr>
          <a:xfrm>
            <a:off x="4864608" y="3858768"/>
            <a:ext cx="3913632" cy="713232"/>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Tests whether adding state-level HPIs improves out-of-sample forecasting accuracy vs. a baseline model.</a:t>
            </a:r>
            <a:endParaRPr lang="en-US" sz="1150" dirty="0"/>
          </a:p>
        </p:txBody>
      </p:sp>
      <p:sp>
        <p:nvSpPr>
          <p:cNvPr id="44" name="Text 42"/>
          <p:cNvSpPr/>
          <p:nvPr/>
        </p:nvSpPr>
        <p:spPr>
          <a:xfrm>
            <a:off x="256032" y="4645152"/>
            <a:ext cx="8631936" cy="182880"/>
          </a:xfrm>
          <a:prstGeom prst="rect">
            <a:avLst/>
          </a:prstGeom>
          <a:noFill/>
          <a:ln/>
        </p:spPr>
        <p:txBody>
          <a:bodyPr wrap="square" rtlCol="0" anchor="ctr"/>
          <a:lstStyle/>
          <a:p>
            <a:pPr marL="0" indent="0">
              <a:buNone/>
            </a:pPr>
            <a:r>
              <a:rPr lang="en-US" sz="1050" b="1" i="1" dirty="0">
                <a:solidFill>
                  <a:srgbClr val="C9993A"/>
                </a:solidFill>
                <a:latin typeface="Calibri" pitchFamily="34" charset="0"/>
                <a:ea typeface="Calibri" pitchFamily="34" charset="-122"/>
                <a:cs typeface="Calibri" pitchFamily="34" charset="-120"/>
              </a:rPr>
              <a:t>Q2 is the primary focus  ·  Outcomes are determined by data, not assumed in advance.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Shape 1"/>
          <p:cNvSpPr/>
          <p:nvPr/>
        </p:nvSpPr>
        <p:spPr>
          <a:xfrm>
            <a:off x="0" y="658368"/>
            <a:ext cx="9144000" cy="50292"/>
          </a:xfrm>
          <a:prstGeom prst="rect">
            <a:avLst/>
          </a:prstGeom>
          <a:solidFill>
            <a:srgbClr val="C9993A"/>
          </a:solidFill>
          <a:ln w="12700">
            <a:solidFill>
              <a:srgbClr val="C9993A"/>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Literature Review</a:t>
            </a:r>
            <a:endParaRPr lang="en-US" sz="2200" dirty="0"/>
          </a:p>
        </p:txBody>
      </p:sp>
      <p:sp>
        <p:nvSpPr>
          <p:cNvPr id="5" name="Shape 3"/>
          <p:cNvSpPr/>
          <p:nvPr/>
        </p:nvSpPr>
        <p:spPr>
          <a:xfrm>
            <a:off x="0" y="4828032"/>
            <a:ext cx="9144000" cy="310896"/>
          </a:xfrm>
          <a:prstGeom prst="rect">
            <a:avLst/>
          </a:prstGeom>
          <a:solidFill>
            <a:srgbClr val="1B2A4A"/>
          </a:solidFill>
          <a:ln w="12700">
            <a:solidFill>
              <a:srgbClr val="1B2A4A"/>
            </a:solidFill>
            <a:prstDash val="solid"/>
          </a:ln>
        </p:spPr>
      </p:sp>
      <p:sp>
        <p:nvSpPr>
          <p:cNvPr id="6" name="Text 4"/>
          <p:cNvSpPr/>
          <p:nvPr/>
        </p:nvSpPr>
        <p:spPr>
          <a:xfrm>
            <a:off x="274320" y="4828032"/>
            <a:ext cx="7772400" cy="310896"/>
          </a:xfrm>
          <a:prstGeom prst="rect">
            <a:avLst/>
          </a:prstGeom>
          <a:noFill/>
          <a:ln/>
        </p:spPr>
        <p:txBody>
          <a:bodyPr wrap="square" lIns="0" tIns="0" rIns="0" bIns="0" rtlCol="0" anchor="ctr"/>
          <a:lstStyle/>
          <a:p>
            <a:pPr marL="0" indent="0">
              <a:buNone/>
            </a:pPr>
            <a:r>
              <a:rPr lang="en-US" sz="900" dirty="0">
                <a:solidFill>
                  <a:srgbClr val="E3E8F0"/>
                </a:solidFill>
                <a:latin typeface="Calibri" pitchFamily="34" charset="0"/>
                <a:ea typeface="Calibri" pitchFamily="34" charset="-122"/>
                <a:cs typeface="Calibri" pitchFamily="34" charset="-120"/>
              </a:rPr>
              <a:t>Andy Chen  ·  MS Data Science &amp; Analytics  ·  CSU Chico  ·  Proposal Defense</a:t>
            </a:r>
            <a:endParaRPr lang="en-US" sz="900" dirty="0"/>
          </a:p>
        </p:txBody>
      </p:sp>
      <p:sp>
        <p:nvSpPr>
          <p:cNvPr id="7" name="Text 5"/>
          <p:cNvSpPr/>
          <p:nvPr/>
        </p:nvSpPr>
        <p:spPr>
          <a:xfrm>
            <a:off x="8321040" y="4828032"/>
            <a:ext cx="548640" cy="310896"/>
          </a:xfrm>
          <a:prstGeom prst="rect">
            <a:avLst/>
          </a:prstGeom>
          <a:noFill/>
          <a:ln/>
        </p:spPr>
        <p:txBody>
          <a:bodyPr wrap="square" lIns="0" tIns="0" rIns="0" bIns="0" rtlCol="0" anchor="ctr"/>
          <a:lstStyle/>
          <a:p>
            <a:pPr marL="0" indent="0" algn="r">
              <a:buNone/>
            </a:pPr>
            <a:r>
              <a:rPr lang="en-US" sz="900" b="1" dirty="0">
                <a:solidFill>
                  <a:srgbClr val="C9993A"/>
                </a:solidFill>
                <a:latin typeface="Calibri" pitchFamily="34" charset="0"/>
                <a:ea typeface="Calibri" pitchFamily="34" charset="-122"/>
                <a:cs typeface="Calibri" pitchFamily="34" charset="-120"/>
              </a:rPr>
              <a:t>5</a:t>
            </a:r>
            <a:endParaRPr lang="en-US" sz="900" dirty="0"/>
          </a:p>
        </p:txBody>
      </p:sp>
      <p:sp>
        <p:nvSpPr>
          <p:cNvPr id="8" name="Shape 6"/>
          <p:cNvSpPr/>
          <p:nvPr/>
        </p:nvSpPr>
        <p:spPr>
          <a:xfrm>
            <a:off x="256032" y="822960"/>
            <a:ext cx="8631936" cy="859536"/>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9" name="Shape 7"/>
          <p:cNvSpPr/>
          <p:nvPr/>
        </p:nvSpPr>
        <p:spPr>
          <a:xfrm>
            <a:off x="256032" y="822960"/>
            <a:ext cx="50292" cy="859536"/>
          </a:xfrm>
          <a:prstGeom prst="rect">
            <a:avLst/>
          </a:prstGeom>
          <a:solidFill>
            <a:srgbClr val="C9993A"/>
          </a:solidFill>
          <a:ln w="12700">
            <a:solidFill>
              <a:srgbClr val="C9993A"/>
            </a:solidFill>
            <a:prstDash val="solid"/>
          </a:ln>
        </p:spPr>
      </p:sp>
      <p:sp>
        <p:nvSpPr>
          <p:cNvPr id="10" name="Text 8"/>
          <p:cNvSpPr/>
          <p:nvPr/>
        </p:nvSpPr>
        <p:spPr>
          <a:xfrm>
            <a:off x="457200" y="896112"/>
            <a:ext cx="2011680" cy="713232"/>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Case &amp; Shiller (1989)</a:t>
            </a:r>
            <a:endParaRPr lang="en-US" sz="1300" dirty="0"/>
          </a:p>
        </p:txBody>
      </p:sp>
      <p:sp>
        <p:nvSpPr>
          <p:cNvPr id="11" name="Text 9"/>
          <p:cNvSpPr/>
          <p:nvPr/>
        </p:nvSpPr>
        <p:spPr>
          <a:xfrm>
            <a:off x="2487168" y="896112"/>
            <a:ext cx="6263640" cy="713232"/>
          </a:xfrm>
          <a:prstGeom prst="rect">
            <a:avLst/>
          </a:prstGeom>
          <a:noFill/>
          <a:ln/>
        </p:spPr>
        <p:txBody>
          <a:bodyPr wrap="square" rtlCol="0" anchor="ctr"/>
          <a:lstStyle/>
          <a:p>
            <a:pPr marL="0" indent="0">
              <a:buNone/>
            </a:pPr>
            <a:r>
              <a:rPr lang="en-US" sz="1250" dirty="0">
                <a:solidFill>
                  <a:srgbClr val="3A4F6B"/>
                </a:solidFill>
                <a:latin typeface="Calibri" pitchFamily="34" charset="0"/>
                <a:ea typeface="Calibri" pitchFamily="34" charset="-122"/>
                <a:cs typeface="Calibri" pitchFamily="34" charset="-120"/>
              </a:rPr>
              <a:t>Housing markets are inherently local. Regional conditions — not national averages — drive price behavior. Early evidence that cross-region heterogeneity matters.</a:t>
            </a:r>
            <a:endParaRPr lang="en-US" sz="1250" dirty="0"/>
          </a:p>
        </p:txBody>
      </p:sp>
      <p:sp>
        <p:nvSpPr>
          <p:cNvPr id="12" name="Shape 10"/>
          <p:cNvSpPr/>
          <p:nvPr/>
        </p:nvSpPr>
        <p:spPr>
          <a:xfrm>
            <a:off x="256032" y="1773936"/>
            <a:ext cx="8631936" cy="859536"/>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13" name="Shape 11"/>
          <p:cNvSpPr/>
          <p:nvPr/>
        </p:nvSpPr>
        <p:spPr>
          <a:xfrm>
            <a:off x="256032" y="1773936"/>
            <a:ext cx="50292" cy="859536"/>
          </a:xfrm>
          <a:prstGeom prst="rect">
            <a:avLst/>
          </a:prstGeom>
          <a:solidFill>
            <a:srgbClr val="C9993A"/>
          </a:solidFill>
          <a:ln w="12700">
            <a:solidFill>
              <a:srgbClr val="C9993A"/>
            </a:solidFill>
            <a:prstDash val="solid"/>
          </a:ln>
        </p:spPr>
      </p:sp>
      <p:sp>
        <p:nvSpPr>
          <p:cNvPr id="14" name="Text 12"/>
          <p:cNvSpPr/>
          <p:nvPr/>
        </p:nvSpPr>
        <p:spPr>
          <a:xfrm>
            <a:off x="457200" y="1847088"/>
            <a:ext cx="2011680" cy="713232"/>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Glaeser &amp; Gyourko (2018)</a:t>
            </a:r>
            <a:endParaRPr lang="en-US" sz="1300" dirty="0"/>
          </a:p>
        </p:txBody>
      </p:sp>
      <p:sp>
        <p:nvSpPr>
          <p:cNvPr id="15" name="Text 13"/>
          <p:cNvSpPr/>
          <p:nvPr/>
        </p:nvSpPr>
        <p:spPr>
          <a:xfrm>
            <a:off x="2487168" y="1847088"/>
            <a:ext cx="6263640" cy="713232"/>
          </a:xfrm>
          <a:prstGeom prst="rect">
            <a:avLst/>
          </a:prstGeom>
          <a:noFill/>
          <a:ln/>
        </p:spPr>
        <p:txBody>
          <a:bodyPr wrap="square" rtlCol="0" anchor="ctr"/>
          <a:lstStyle/>
          <a:p>
            <a:pPr marL="0" indent="0">
              <a:buNone/>
            </a:pPr>
            <a:r>
              <a:rPr lang="en-US" sz="1250" dirty="0">
                <a:solidFill>
                  <a:srgbClr val="3A4F6B"/>
                </a:solidFill>
                <a:latin typeface="Calibri" pitchFamily="34" charset="0"/>
                <a:ea typeface="Calibri" pitchFamily="34" charset="-122"/>
                <a:cs typeface="Calibri" pitchFamily="34" charset="-120"/>
              </a:rPr>
              <a:t>Zoning restrictions make housing supply inelastic in many cities. Supply-constrained markets amplify demand-side shocks from rate increases — directly motivates state comparisons.</a:t>
            </a:r>
            <a:endParaRPr lang="en-US" sz="1250" dirty="0"/>
          </a:p>
        </p:txBody>
      </p:sp>
      <p:sp>
        <p:nvSpPr>
          <p:cNvPr id="16" name="Shape 14"/>
          <p:cNvSpPr/>
          <p:nvPr/>
        </p:nvSpPr>
        <p:spPr>
          <a:xfrm>
            <a:off x="256032" y="2724912"/>
            <a:ext cx="8631936" cy="859536"/>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17" name="Shape 15"/>
          <p:cNvSpPr/>
          <p:nvPr/>
        </p:nvSpPr>
        <p:spPr>
          <a:xfrm>
            <a:off x="256032" y="2724912"/>
            <a:ext cx="50292" cy="859536"/>
          </a:xfrm>
          <a:prstGeom prst="rect">
            <a:avLst/>
          </a:prstGeom>
          <a:solidFill>
            <a:srgbClr val="C9993A"/>
          </a:solidFill>
          <a:ln w="12700">
            <a:solidFill>
              <a:srgbClr val="C9993A"/>
            </a:solidFill>
            <a:prstDash val="solid"/>
          </a:ln>
        </p:spPr>
      </p:sp>
      <p:sp>
        <p:nvSpPr>
          <p:cNvPr id="18" name="Text 16"/>
          <p:cNvSpPr/>
          <p:nvPr/>
        </p:nvSpPr>
        <p:spPr>
          <a:xfrm>
            <a:off x="457200" y="2798064"/>
            <a:ext cx="2011680" cy="713232"/>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Blanchard &amp; Bernanke (2023)</a:t>
            </a:r>
            <a:endParaRPr lang="en-US" sz="1300" dirty="0"/>
          </a:p>
        </p:txBody>
      </p:sp>
      <p:sp>
        <p:nvSpPr>
          <p:cNvPr id="19" name="Text 17"/>
          <p:cNvSpPr/>
          <p:nvPr/>
        </p:nvSpPr>
        <p:spPr>
          <a:xfrm>
            <a:off x="2487168" y="2798064"/>
            <a:ext cx="6263640" cy="713232"/>
          </a:xfrm>
          <a:prstGeom prst="rect">
            <a:avLst/>
          </a:prstGeom>
          <a:noFill/>
          <a:ln/>
        </p:spPr>
        <p:txBody>
          <a:bodyPr wrap="square" rtlCol="0" anchor="ctr"/>
          <a:lstStyle/>
          <a:p>
            <a:pPr marL="0" indent="0">
              <a:buNone/>
            </a:pPr>
            <a:r>
              <a:rPr lang="en-US" sz="1250" dirty="0">
                <a:solidFill>
                  <a:srgbClr val="3A4F6B"/>
                </a:solidFill>
                <a:latin typeface="Calibri" pitchFamily="34" charset="0"/>
                <a:ea typeface="Calibri" pitchFamily="34" charset="-122"/>
                <a:cs typeface="Calibri" pitchFamily="34" charset="-120"/>
              </a:rPr>
              <a:t>U.S. pandemic inflation was both supply- and demand-driven. Each type may affect housing differently since housing is simultaneously a consumption good and an investment.</a:t>
            </a:r>
            <a:endParaRPr lang="en-US" sz="1250" dirty="0"/>
          </a:p>
        </p:txBody>
      </p:sp>
      <p:sp>
        <p:nvSpPr>
          <p:cNvPr id="20" name="Shape 18"/>
          <p:cNvSpPr/>
          <p:nvPr/>
        </p:nvSpPr>
        <p:spPr>
          <a:xfrm>
            <a:off x="256032" y="3675888"/>
            <a:ext cx="8631936" cy="859536"/>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21" name="Shape 19"/>
          <p:cNvSpPr/>
          <p:nvPr/>
        </p:nvSpPr>
        <p:spPr>
          <a:xfrm>
            <a:off x="256032" y="3675888"/>
            <a:ext cx="50292" cy="859536"/>
          </a:xfrm>
          <a:prstGeom prst="rect">
            <a:avLst/>
          </a:prstGeom>
          <a:solidFill>
            <a:srgbClr val="C9993A"/>
          </a:solidFill>
          <a:ln w="12700">
            <a:solidFill>
              <a:srgbClr val="C9993A"/>
            </a:solidFill>
            <a:prstDash val="solid"/>
          </a:ln>
        </p:spPr>
      </p:sp>
      <p:sp>
        <p:nvSpPr>
          <p:cNvPr id="22" name="Text 20"/>
          <p:cNvSpPr/>
          <p:nvPr/>
        </p:nvSpPr>
        <p:spPr>
          <a:xfrm>
            <a:off x="457200" y="3749040"/>
            <a:ext cx="2011680" cy="713232"/>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McCracken &amp; Ng (2016)</a:t>
            </a:r>
            <a:endParaRPr lang="en-US" sz="1300" dirty="0"/>
          </a:p>
        </p:txBody>
      </p:sp>
      <p:sp>
        <p:nvSpPr>
          <p:cNvPr id="23" name="Text 21"/>
          <p:cNvSpPr/>
          <p:nvPr/>
        </p:nvSpPr>
        <p:spPr>
          <a:xfrm>
            <a:off x="2487168" y="3749040"/>
            <a:ext cx="6263640" cy="713232"/>
          </a:xfrm>
          <a:prstGeom prst="rect">
            <a:avLst/>
          </a:prstGeom>
          <a:noFill/>
          <a:ln/>
        </p:spPr>
        <p:txBody>
          <a:bodyPr wrap="square" rtlCol="0" anchor="ctr"/>
          <a:lstStyle/>
          <a:p>
            <a:pPr marL="0" indent="0">
              <a:buNone/>
            </a:pPr>
            <a:r>
              <a:rPr lang="en-US" sz="1250" dirty="0">
                <a:solidFill>
                  <a:srgbClr val="3A4F6B"/>
                </a:solidFill>
                <a:latin typeface="Calibri" pitchFamily="34" charset="0"/>
                <a:ea typeface="Calibri" pitchFamily="34" charset="-122"/>
                <a:cs typeface="Calibri" pitchFamily="34" charset="-120"/>
              </a:rPr>
              <a:t>FRED-MD/FRED-QD enables joint modeling of macroeconomic variables, revealing dynamics that single-variable methods miss. This study uses the Q1 2026 vintage.</a:t>
            </a:r>
            <a:endParaRPr lang="en-US" sz="1250" dirty="0"/>
          </a:p>
        </p:txBody>
      </p:sp>
      <p:sp>
        <p:nvSpPr>
          <p:cNvPr id="24" name="Shape 22"/>
          <p:cNvSpPr/>
          <p:nvPr/>
        </p:nvSpPr>
        <p:spPr>
          <a:xfrm>
            <a:off x="256032" y="4645152"/>
            <a:ext cx="8631936" cy="219456"/>
          </a:xfrm>
          <a:prstGeom prst="rect">
            <a:avLst/>
          </a:prstGeom>
          <a:solidFill>
            <a:srgbClr val="E3E8F0"/>
          </a:solidFill>
          <a:ln w="12700">
            <a:solidFill>
              <a:srgbClr val="E3E8F0"/>
            </a:solidFill>
            <a:prstDash val="solid"/>
          </a:ln>
        </p:spPr>
      </p:sp>
      <p:sp>
        <p:nvSpPr>
          <p:cNvPr id="25" name="Text 23"/>
          <p:cNvSpPr/>
          <p:nvPr/>
        </p:nvSpPr>
        <p:spPr>
          <a:xfrm>
            <a:off x="384048" y="4645152"/>
            <a:ext cx="8412480" cy="219456"/>
          </a:xfrm>
          <a:prstGeom prst="rect">
            <a:avLst/>
          </a:prstGeom>
          <a:noFill/>
          <a:ln/>
        </p:spPr>
        <p:txBody>
          <a:bodyPr wrap="square" lIns="0" tIns="0" rIns="0" bIns="0" rtlCol="0" anchor="ctr"/>
          <a:lstStyle/>
          <a:p>
            <a:pPr marL="0" indent="0">
              <a:buNone/>
            </a:pPr>
            <a:r>
              <a:rPr lang="en-US" sz="1100" b="1" i="1" dirty="0">
                <a:solidFill>
                  <a:srgbClr val="1B2A4A"/>
                </a:solidFill>
                <a:latin typeface="Calibri" pitchFamily="34" charset="0"/>
                <a:ea typeface="Calibri" pitchFamily="34" charset="-122"/>
                <a:cs typeface="Calibri" pitchFamily="34" charset="-120"/>
              </a:rPr>
              <a:t>Research gap: No study combines cross-state panel heterogeneity with a COVID-era structural break test.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Shape 1"/>
          <p:cNvSpPr/>
          <p:nvPr/>
        </p:nvSpPr>
        <p:spPr>
          <a:xfrm>
            <a:off x="0" y="658368"/>
            <a:ext cx="9144000" cy="50292"/>
          </a:xfrm>
          <a:prstGeom prst="rect">
            <a:avLst/>
          </a:prstGeom>
          <a:solidFill>
            <a:srgbClr val="C9993A"/>
          </a:solidFill>
          <a:ln w="12700">
            <a:solidFill>
              <a:srgbClr val="C9993A"/>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Explanation of Data</a:t>
            </a:r>
            <a:endParaRPr lang="en-US" sz="2200" dirty="0"/>
          </a:p>
        </p:txBody>
      </p:sp>
      <p:sp>
        <p:nvSpPr>
          <p:cNvPr id="5" name="Shape 3"/>
          <p:cNvSpPr/>
          <p:nvPr/>
        </p:nvSpPr>
        <p:spPr>
          <a:xfrm>
            <a:off x="0" y="4828032"/>
            <a:ext cx="9144000" cy="310896"/>
          </a:xfrm>
          <a:prstGeom prst="rect">
            <a:avLst/>
          </a:prstGeom>
          <a:solidFill>
            <a:srgbClr val="1B2A4A"/>
          </a:solidFill>
          <a:ln w="12700">
            <a:solidFill>
              <a:srgbClr val="1B2A4A"/>
            </a:solidFill>
            <a:prstDash val="solid"/>
          </a:ln>
        </p:spPr>
      </p:sp>
      <p:sp>
        <p:nvSpPr>
          <p:cNvPr id="6" name="Text 4"/>
          <p:cNvSpPr/>
          <p:nvPr/>
        </p:nvSpPr>
        <p:spPr>
          <a:xfrm>
            <a:off x="274320" y="4828032"/>
            <a:ext cx="7772400" cy="310896"/>
          </a:xfrm>
          <a:prstGeom prst="rect">
            <a:avLst/>
          </a:prstGeom>
          <a:noFill/>
          <a:ln/>
        </p:spPr>
        <p:txBody>
          <a:bodyPr wrap="square" lIns="0" tIns="0" rIns="0" bIns="0" rtlCol="0" anchor="ctr"/>
          <a:lstStyle/>
          <a:p>
            <a:pPr marL="0" indent="0">
              <a:buNone/>
            </a:pPr>
            <a:r>
              <a:rPr lang="en-US" sz="900" dirty="0">
                <a:solidFill>
                  <a:srgbClr val="E3E8F0"/>
                </a:solidFill>
                <a:latin typeface="Calibri" pitchFamily="34" charset="0"/>
                <a:ea typeface="Calibri" pitchFamily="34" charset="-122"/>
                <a:cs typeface="Calibri" pitchFamily="34" charset="-120"/>
              </a:rPr>
              <a:t>Andy Chen  ·  MS Data Science &amp; Analytics  ·  CSU Chico  ·  Proposal Defense</a:t>
            </a:r>
            <a:endParaRPr lang="en-US" sz="900" dirty="0"/>
          </a:p>
        </p:txBody>
      </p:sp>
      <p:sp>
        <p:nvSpPr>
          <p:cNvPr id="7" name="Text 5"/>
          <p:cNvSpPr/>
          <p:nvPr/>
        </p:nvSpPr>
        <p:spPr>
          <a:xfrm>
            <a:off x="8321040" y="4828032"/>
            <a:ext cx="548640" cy="310896"/>
          </a:xfrm>
          <a:prstGeom prst="rect">
            <a:avLst/>
          </a:prstGeom>
          <a:noFill/>
          <a:ln/>
        </p:spPr>
        <p:txBody>
          <a:bodyPr wrap="square" lIns="0" tIns="0" rIns="0" bIns="0" rtlCol="0" anchor="ctr"/>
          <a:lstStyle/>
          <a:p>
            <a:pPr marL="0" indent="0" algn="r">
              <a:buNone/>
            </a:pPr>
            <a:r>
              <a:rPr lang="en-US" sz="900" b="1" dirty="0">
                <a:solidFill>
                  <a:srgbClr val="C9993A"/>
                </a:solidFill>
                <a:latin typeface="Calibri" pitchFamily="34" charset="0"/>
                <a:ea typeface="Calibri" pitchFamily="34" charset="-122"/>
                <a:cs typeface="Calibri" pitchFamily="34" charset="-120"/>
              </a:rPr>
              <a:t>6</a:t>
            </a:r>
            <a:endParaRPr lang="en-US" sz="900" dirty="0"/>
          </a:p>
        </p:txBody>
      </p:sp>
      <p:sp>
        <p:nvSpPr>
          <p:cNvPr id="8" name="Shape 6"/>
          <p:cNvSpPr/>
          <p:nvPr/>
        </p:nvSpPr>
        <p:spPr>
          <a:xfrm>
            <a:off x="256032" y="822960"/>
            <a:ext cx="4160520" cy="3904488"/>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9" name="Shape 7"/>
          <p:cNvSpPr/>
          <p:nvPr/>
        </p:nvSpPr>
        <p:spPr>
          <a:xfrm>
            <a:off x="256032" y="822960"/>
            <a:ext cx="50292" cy="3904488"/>
          </a:xfrm>
          <a:prstGeom prst="rect">
            <a:avLst/>
          </a:prstGeom>
          <a:solidFill>
            <a:srgbClr val="2D5FA8"/>
          </a:solidFill>
          <a:ln w="12700">
            <a:solidFill>
              <a:srgbClr val="2D5FA8"/>
            </a:solidFill>
            <a:prstDash val="solid"/>
          </a:ln>
        </p:spPr>
      </p:sp>
      <p:sp>
        <p:nvSpPr>
          <p:cNvPr id="10" name="Text 8"/>
          <p:cNvSpPr/>
          <p:nvPr/>
        </p:nvSpPr>
        <p:spPr>
          <a:xfrm>
            <a:off x="438912" y="886968"/>
            <a:ext cx="3840480" cy="402336"/>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FRED-QD — March 2026 Vintage</a:t>
            </a:r>
            <a:endParaRPr lang="en-US" sz="1400" dirty="0"/>
          </a:p>
        </p:txBody>
      </p:sp>
      <p:sp>
        <p:nvSpPr>
          <p:cNvPr id="11" name="Text 9"/>
          <p:cNvSpPr/>
          <p:nvPr/>
        </p:nvSpPr>
        <p:spPr>
          <a:xfrm>
            <a:off x="438912" y="1335024"/>
            <a:ext cx="3858768" cy="3273552"/>
          </a:xfrm>
          <a:prstGeom prst="rect">
            <a:avLst/>
          </a:prstGeom>
          <a:noFill/>
          <a:ln/>
        </p:spPr>
        <p:txBody>
          <a:bodyPr wrap="square" rtlCol="0" anchor="t"/>
          <a:lstStyle/>
          <a:p>
            <a:pPr marL="342900" indent="-342900">
              <a:buSzPct val="100000"/>
              <a:buChar char="•"/>
            </a:pPr>
            <a:r>
              <a:rPr lang="en-US" sz="1400" dirty="0">
                <a:solidFill>
                  <a:srgbClr val="3A4F6B"/>
                </a:solidFill>
                <a:latin typeface="Calibri" pitchFamily="34" charset="0"/>
                <a:ea typeface="Calibri" pitchFamily="34" charset="-122"/>
                <a:cs typeface="Calibri" pitchFamily="34" charset="-120"/>
              </a:rPr>
              <a:t>Quarterly, Q1 1959 – Q4 2025</a:t>
            </a:r>
            <a:endParaRPr lang="en-US" sz="1400" dirty="0"/>
          </a:p>
          <a:p>
            <a:pPr marL="342900" indent="-342900">
              <a:buSzPct val="100000"/>
              <a:buChar char="•"/>
            </a:pPr>
            <a:r>
              <a:rPr lang="en-US" sz="1400" dirty="0">
                <a:solidFill>
                  <a:srgbClr val="3A4F6B"/>
                </a:solidFill>
                <a:latin typeface="Calibri" pitchFamily="34" charset="0"/>
                <a:ea typeface="Calibri" pitchFamily="34" charset="-122"/>
                <a:cs typeface="Calibri" pitchFamily="34" charset="-120"/>
              </a:rPr>
              <a:t>245 macroeconomic variables</a:t>
            </a:r>
            <a:endParaRPr lang="en-US" sz="1400" dirty="0"/>
          </a:p>
          <a:p>
            <a:pPr marL="0" indent="0">
              <a:buNone/>
            </a:pPr>
            <a:endParaRPr lang="en-US" sz="1400" dirty="0"/>
          </a:p>
          <a:p>
            <a:pPr marL="342900" indent="-342900">
              <a:buSzPct val="100000"/>
              <a:buChar char="•"/>
            </a:pPr>
            <a:r>
              <a:rPr lang="en-US" sz="1400" b="1" dirty="0">
                <a:solidFill>
                  <a:srgbClr val="1B2A4A"/>
                </a:solidFill>
                <a:latin typeface="Calibri" pitchFamily="34" charset="0"/>
                <a:ea typeface="Calibri" pitchFamily="34" charset="-122"/>
                <a:cs typeface="Calibri" pitchFamily="34" charset="-120"/>
              </a:rPr>
              <a:t>Key variables:</a:t>
            </a:r>
            <a:endParaRPr lang="en-US" sz="1400" dirty="0"/>
          </a:p>
          <a:p>
            <a:pPr marL="685800" lvl="1" indent="-342900">
              <a:buSzPct val="100000"/>
              <a:buChar char="•"/>
            </a:pPr>
            <a:r>
              <a:rPr lang="en-US" sz="1400" dirty="0">
                <a:solidFill>
                  <a:srgbClr val="3A4F6B"/>
                </a:solidFill>
                <a:latin typeface="Calibri" pitchFamily="34" charset="0"/>
                <a:ea typeface="Calibri" pitchFamily="34" charset="-122"/>
                <a:cs typeface="Calibri" pitchFamily="34" charset="-120"/>
              </a:rPr>
              <a:t>CPIAUCSL — inflation (All Urban CPI)</a:t>
            </a:r>
            <a:endParaRPr lang="en-US" sz="1400" dirty="0"/>
          </a:p>
          <a:p>
            <a:pPr marL="685800" lvl="1" indent="-342900">
              <a:buSzPct val="100000"/>
              <a:buChar char="•"/>
            </a:pPr>
            <a:r>
              <a:rPr lang="en-US" sz="1400" dirty="0">
                <a:solidFill>
                  <a:srgbClr val="3A4F6B"/>
                </a:solidFill>
                <a:latin typeface="Calibri" pitchFamily="34" charset="0"/>
                <a:ea typeface="Calibri" pitchFamily="34" charset="-122"/>
                <a:cs typeface="Calibri" pitchFamily="34" charset="-120"/>
              </a:rPr>
              <a:t>FEDFUNDS — short-term interest rate</a:t>
            </a:r>
            <a:endParaRPr lang="en-US" sz="1400" dirty="0"/>
          </a:p>
          <a:p>
            <a:pPr marL="685800" lvl="1" indent="-342900">
              <a:buSzPct val="100000"/>
              <a:buChar char="•"/>
            </a:pPr>
            <a:r>
              <a:rPr lang="en-US" sz="1400" dirty="0">
                <a:solidFill>
                  <a:srgbClr val="3A4F6B"/>
                </a:solidFill>
                <a:latin typeface="Calibri" pitchFamily="34" charset="0"/>
                <a:ea typeface="Calibri" pitchFamily="34" charset="-122"/>
                <a:cs typeface="Calibri" pitchFamily="34" charset="-120"/>
              </a:rPr>
              <a:t>GS10 — 10-Year Treasury yield</a:t>
            </a:r>
            <a:endParaRPr lang="en-US" sz="1400" dirty="0"/>
          </a:p>
          <a:p>
            <a:pPr marL="685800" lvl="1" indent="-342900">
              <a:buSzPct val="100000"/>
              <a:buChar char="•"/>
            </a:pPr>
            <a:r>
              <a:rPr lang="en-US" sz="1400" dirty="0">
                <a:solidFill>
                  <a:srgbClr val="3A4F6B"/>
                </a:solidFill>
                <a:latin typeface="Calibri" pitchFamily="34" charset="0"/>
                <a:ea typeface="Calibri" pitchFamily="34" charset="-122"/>
                <a:cs typeface="Calibri" pitchFamily="34" charset="-120"/>
              </a:rPr>
              <a:t>HOUST — national housing starts</a:t>
            </a:r>
            <a:endParaRPr lang="en-US" sz="1400" dirty="0"/>
          </a:p>
          <a:p>
            <a:pPr marL="685800" lvl="1" indent="-342900">
              <a:buSzPct val="100000"/>
              <a:buChar char="•"/>
            </a:pPr>
            <a:r>
              <a:rPr lang="en-US" sz="1400" dirty="0">
                <a:solidFill>
                  <a:srgbClr val="3A4F6B"/>
                </a:solidFill>
                <a:latin typeface="Calibri" pitchFamily="34" charset="0"/>
                <a:ea typeface="Calibri" pitchFamily="34" charset="-122"/>
                <a:cs typeface="Calibri" pitchFamily="34" charset="-120"/>
              </a:rPr>
              <a:t>PERMIT — new housing permits</a:t>
            </a:r>
            <a:endParaRPr lang="en-US" sz="1400" dirty="0"/>
          </a:p>
          <a:p>
            <a:pPr marL="685800" lvl="1" indent="-342900">
              <a:buSzPct val="100000"/>
              <a:buChar char="•"/>
            </a:pPr>
            <a:r>
              <a:rPr lang="en-US" sz="1400" dirty="0">
                <a:solidFill>
                  <a:srgbClr val="3A4F6B"/>
                </a:solidFill>
                <a:latin typeface="Calibri" pitchFamily="34" charset="0"/>
                <a:ea typeface="Calibri" pitchFamily="34" charset="-122"/>
                <a:cs typeface="Calibri" pitchFamily="34" charset="-120"/>
              </a:rPr>
              <a:t>PAYEMS — total nonfarm payroll</a:t>
            </a:r>
            <a:endParaRPr lang="en-US" sz="1400" dirty="0"/>
          </a:p>
        </p:txBody>
      </p:sp>
      <p:sp>
        <p:nvSpPr>
          <p:cNvPr id="12" name="Shape 10"/>
          <p:cNvSpPr/>
          <p:nvPr/>
        </p:nvSpPr>
        <p:spPr>
          <a:xfrm>
            <a:off x="4709160" y="822960"/>
            <a:ext cx="4160520" cy="3904488"/>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13" name="Shape 11"/>
          <p:cNvSpPr/>
          <p:nvPr/>
        </p:nvSpPr>
        <p:spPr>
          <a:xfrm>
            <a:off x="4709160" y="822960"/>
            <a:ext cx="50292" cy="3904488"/>
          </a:xfrm>
          <a:prstGeom prst="rect">
            <a:avLst/>
          </a:prstGeom>
          <a:solidFill>
            <a:srgbClr val="1A7A8A"/>
          </a:solidFill>
          <a:ln w="12700">
            <a:solidFill>
              <a:srgbClr val="1A7A8A"/>
            </a:solidFill>
            <a:prstDash val="solid"/>
          </a:ln>
        </p:spPr>
      </p:sp>
      <p:sp>
        <p:nvSpPr>
          <p:cNvPr id="14" name="Text 12"/>
          <p:cNvSpPr/>
          <p:nvPr/>
        </p:nvSpPr>
        <p:spPr>
          <a:xfrm>
            <a:off x="4892040" y="886968"/>
            <a:ext cx="3858768" cy="402336"/>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FHFA State House Price Indices</a:t>
            </a:r>
            <a:endParaRPr lang="en-US" sz="1400" dirty="0"/>
          </a:p>
        </p:txBody>
      </p:sp>
      <p:sp>
        <p:nvSpPr>
          <p:cNvPr id="15" name="Shape 13"/>
          <p:cNvSpPr/>
          <p:nvPr/>
        </p:nvSpPr>
        <p:spPr>
          <a:xfrm>
            <a:off x="4873752" y="1389888"/>
            <a:ext cx="457200" cy="338328"/>
          </a:xfrm>
          <a:prstGeom prst="rect">
            <a:avLst/>
          </a:prstGeom>
          <a:solidFill>
            <a:srgbClr val="1B2A4A"/>
          </a:solidFill>
          <a:ln w="12700">
            <a:solidFill>
              <a:srgbClr val="1B2A4A"/>
            </a:solidFill>
            <a:prstDash val="solid"/>
          </a:ln>
        </p:spPr>
      </p:sp>
      <p:sp>
        <p:nvSpPr>
          <p:cNvPr id="16" name="Text 14"/>
          <p:cNvSpPr/>
          <p:nvPr/>
        </p:nvSpPr>
        <p:spPr>
          <a:xfrm>
            <a:off x="4873752" y="1389888"/>
            <a:ext cx="457200"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a:t>
            </a:r>
            <a:endParaRPr lang="en-US" sz="1100" dirty="0"/>
          </a:p>
        </p:txBody>
      </p:sp>
      <p:sp>
        <p:nvSpPr>
          <p:cNvPr id="17" name="Text 15"/>
          <p:cNvSpPr/>
          <p:nvPr/>
        </p:nvSpPr>
        <p:spPr>
          <a:xfrm>
            <a:off x="5413248" y="1408176"/>
            <a:ext cx="3337560" cy="320040"/>
          </a:xfrm>
          <a:prstGeom prst="rect">
            <a:avLst/>
          </a:prstGeom>
          <a:noFill/>
          <a:ln/>
        </p:spPr>
        <p:txBody>
          <a:bodyPr wrap="square" rtlCol="0" anchor="ctr"/>
          <a:lstStyle/>
          <a:p>
            <a:pPr marL="0" indent="0">
              <a:buNone/>
            </a:pPr>
            <a:r>
              <a:rPr lang="en-US" sz="1250" dirty="0">
                <a:solidFill>
                  <a:srgbClr val="3A4F6B"/>
                </a:solidFill>
                <a:latin typeface="Calibri" pitchFamily="34" charset="0"/>
                <a:ea typeface="Calibri" pitchFamily="34" charset="-122"/>
                <a:cs typeface="Calibri" pitchFamily="34" charset="-120"/>
              </a:rPr>
              <a:t>High-cost, supply-constrained</a:t>
            </a:r>
            <a:endParaRPr lang="en-US" sz="1250" dirty="0"/>
          </a:p>
        </p:txBody>
      </p:sp>
      <p:sp>
        <p:nvSpPr>
          <p:cNvPr id="18" name="Shape 16"/>
          <p:cNvSpPr/>
          <p:nvPr/>
        </p:nvSpPr>
        <p:spPr>
          <a:xfrm>
            <a:off x="4873752" y="1847088"/>
            <a:ext cx="457200" cy="338328"/>
          </a:xfrm>
          <a:prstGeom prst="rect">
            <a:avLst/>
          </a:prstGeom>
          <a:solidFill>
            <a:srgbClr val="1B2A4A"/>
          </a:solidFill>
          <a:ln w="12700">
            <a:solidFill>
              <a:srgbClr val="1B2A4A"/>
            </a:solidFill>
            <a:prstDash val="solid"/>
          </a:ln>
        </p:spPr>
      </p:sp>
      <p:sp>
        <p:nvSpPr>
          <p:cNvPr id="19" name="Text 17"/>
          <p:cNvSpPr/>
          <p:nvPr/>
        </p:nvSpPr>
        <p:spPr>
          <a:xfrm>
            <a:off x="4873752" y="1847088"/>
            <a:ext cx="457200"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NY</a:t>
            </a:r>
            <a:endParaRPr lang="en-US" sz="1100" dirty="0"/>
          </a:p>
        </p:txBody>
      </p:sp>
      <p:sp>
        <p:nvSpPr>
          <p:cNvPr id="20" name="Text 18"/>
          <p:cNvSpPr/>
          <p:nvPr/>
        </p:nvSpPr>
        <p:spPr>
          <a:xfrm>
            <a:off x="5413248" y="1865376"/>
            <a:ext cx="3337560" cy="320040"/>
          </a:xfrm>
          <a:prstGeom prst="rect">
            <a:avLst/>
          </a:prstGeom>
          <a:noFill/>
          <a:ln/>
        </p:spPr>
        <p:txBody>
          <a:bodyPr wrap="square" rtlCol="0" anchor="ctr"/>
          <a:lstStyle/>
          <a:p>
            <a:pPr marL="0" indent="0">
              <a:buNone/>
            </a:pPr>
            <a:r>
              <a:rPr lang="en-US" sz="1250" dirty="0">
                <a:solidFill>
                  <a:srgbClr val="3A4F6B"/>
                </a:solidFill>
                <a:latin typeface="Calibri" pitchFamily="34" charset="0"/>
                <a:ea typeface="Calibri" pitchFamily="34" charset="-122"/>
                <a:cs typeface="Calibri" pitchFamily="34" charset="-120"/>
              </a:rPr>
              <a:t>High-cost, supply-constrained</a:t>
            </a:r>
            <a:endParaRPr lang="en-US" sz="1250" dirty="0"/>
          </a:p>
        </p:txBody>
      </p:sp>
      <p:sp>
        <p:nvSpPr>
          <p:cNvPr id="21" name="Shape 19"/>
          <p:cNvSpPr/>
          <p:nvPr/>
        </p:nvSpPr>
        <p:spPr>
          <a:xfrm>
            <a:off x="4873752" y="2304288"/>
            <a:ext cx="457200" cy="338328"/>
          </a:xfrm>
          <a:prstGeom prst="rect">
            <a:avLst/>
          </a:prstGeom>
          <a:solidFill>
            <a:srgbClr val="1B2A4A"/>
          </a:solidFill>
          <a:ln w="12700">
            <a:solidFill>
              <a:srgbClr val="1B2A4A"/>
            </a:solidFill>
            <a:prstDash val="solid"/>
          </a:ln>
        </p:spPr>
      </p:sp>
      <p:sp>
        <p:nvSpPr>
          <p:cNvPr id="22" name="Text 20"/>
          <p:cNvSpPr/>
          <p:nvPr/>
        </p:nvSpPr>
        <p:spPr>
          <a:xfrm>
            <a:off x="4873752" y="2304288"/>
            <a:ext cx="457200"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TX</a:t>
            </a:r>
            <a:endParaRPr lang="en-US" sz="1100" dirty="0"/>
          </a:p>
        </p:txBody>
      </p:sp>
      <p:sp>
        <p:nvSpPr>
          <p:cNvPr id="23" name="Text 21"/>
          <p:cNvSpPr/>
          <p:nvPr/>
        </p:nvSpPr>
        <p:spPr>
          <a:xfrm>
            <a:off x="5413248" y="2322576"/>
            <a:ext cx="3337560" cy="320040"/>
          </a:xfrm>
          <a:prstGeom prst="rect">
            <a:avLst/>
          </a:prstGeom>
          <a:noFill/>
          <a:ln/>
        </p:spPr>
        <p:txBody>
          <a:bodyPr wrap="square" rtlCol="0" anchor="ctr"/>
          <a:lstStyle/>
          <a:p>
            <a:pPr marL="0" indent="0">
              <a:buNone/>
            </a:pPr>
            <a:r>
              <a:rPr lang="en-US" sz="1250" dirty="0">
                <a:solidFill>
                  <a:srgbClr val="3A4F6B"/>
                </a:solidFill>
                <a:latin typeface="Calibri" pitchFamily="34" charset="0"/>
                <a:ea typeface="Calibri" pitchFamily="34" charset="-122"/>
                <a:cs typeface="Calibri" pitchFamily="34" charset="-120"/>
              </a:rPr>
              <a:t>Lower-cost, elastic supply</a:t>
            </a:r>
            <a:endParaRPr lang="en-US" sz="1250" dirty="0"/>
          </a:p>
        </p:txBody>
      </p:sp>
      <p:sp>
        <p:nvSpPr>
          <p:cNvPr id="24" name="Shape 22"/>
          <p:cNvSpPr/>
          <p:nvPr/>
        </p:nvSpPr>
        <p:spPr>
          <a:xfrm>
            <a:off x="4873752" y="2761488"/>
            <a:ext cx="457200" cy="338328"/>
          </a:xfrm>
          <a:prstGeom prst="rect">
            <a:avLst/>
          </a:prstGeom>
          <a:solidFill>
            <a:srgbClr val="1B2A4A"/>
          </a:solidFill>
          <a:ln w="12700">
            <a:solidFill>
              <a:srgbClr val="1B2A4A"/>
            </a:solidFill>
            <a:prstDash val="solid"/>
          </a:ln>
        </p:spPr>
      </p:sp>
      <p:sp>
        <p:nvSpPr>
          <p:cNvPr id="25" name="Text 23"/>
          <p:cNvSpPr/>
          <p:nvPr/>
        </p:nvSpPr>
        <p:spPr>
          <a:xfrm>
            <a:off x="4873752" y="2761488"/>
            <a:ext cx="457200"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FL</a:t>
            </a:r>
            <a:endParaRPr lang="en-US" sz="1100" dirty="0"/>
          </a:p>
        </p:txBody>
      </p:sp>
      <p:sp>
        <p:nvSpPr>
          <p:cNvPr id="26" name="Text 24"/>
          <p:cNvSpPr/>
          <p:nvPr/>
        </p:nvSpPr>
        <p:spPr>
          <a:xfrm>
            <a:off x="5413248" y="2779776"/>
            <a:ext cx="3337560" cy="320040"/>
          </a:xfrm>
          <a:prstGeom prst="rect">
            <a:avLst/>
          </a:prstGeom>
          <a:noFill/>
          <a:ln/>
        </p:spPr>
        <p:txBody>
          <a:bodyPr wrap="square" rtlCol="0" anchor="ctr"/>
          <a:lstStyle/>
          <a:p>
            <a:pPr marL="0" indent="0">
              <a:buNone/>
            </a:pPr>
            <a:r>
              <a:rPr lang="en-US" sz="1250" dirty="0">
                <a:solidFill>
                  <a:srgbClr val="3A4F6B"/>
                </a:solidFill>
                <a:latin typeface="Calibri" pitchFamily="34" charset="0"/>
                <a:ea typeface="Calibri" pitchFamily="34" charset="-122"/>
                <a:cs typeface="Calibri" pitchFamily="34" charset="-120"/>
              </a:rPr>
              <a:t>High-growth, strong in-migration</a:t>
            </a:r>
            <a:endParaRPr lang="en-US" sz="1250" dirty="0"/>
          </a:p>
        </p:txBody>
      </p:sp>
      <p:sp>
        <p:nvSpPr>
          <p:cNvPr id="27" name="Shape 25"/>
          <p:cNvSpPr/>
          <p:nvPr/>
        </p:nvSpPr>
        <p:spPr>
          <a:xfrm>
            <a:off x="4873752" y="3218688"/>
            <a:ext cx="457200" cy="338328"/>
          </a:xfrm>
          <a:prstGeom prst="rect">
            <a:avLst/>
          </a:prstGeom>
          <a:solidFill>
            <a:srgbClr val="1B2A4A"/>
          </a:solidFill>
          <a:ln w="12700">
            <a:solidFill>
              <a:srgbClr val="1B2A4A"/>
            </a:solidFill>
            <a:prstDash val="solid"/>
          </a:ln>
        </p:spPr>
      </p:sp>
      <p:sp>
        <p:nvSpPr>
          <p:cNvPr id="28" name="Text 26"/>
          <p:cNvSpPr/>
          <p:nvPr/>
        </p:nvSpPr>
        <p:spPr>
          <a:xfrm>
            <a:off x="4873752" y="3218688"/>
            <a:ext cx="457200"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OH</a:t>
            </a:r>
            <a:endParaRPr lang="en-US" sz="1100" dirty="0"/>
          </a:p>
        </p:txBody>
      </p:sp>
      <p:sp>
        <p:nvSpPr>
          <p:cNvPr id="29" name="Text 27"/>
          <p:cNvSpPr/>
          <p:nvPr/>
        </p:nvSpPr>
        <p:spPr>
          <a:xfrm>
            <a:off x="5413248" y="3236976"/>
            <a:ext cx="3337560" cy="320040"/>
          </a:xfrm>
          <a:prstGeom prst="rect">
            <a:avLst/>
          </a:prstGeom>
          <a:noFill/>
          <a:ln/>
        </p:spPr>
        <p:txBody>
          <a:bodyPr wrap="square" rtlCol="0" anchor="ctr"/>
          <a:lstStyle/>
          <a:p>
            <a:pPr marL="0" indent="0">
              <a:buNone/>
            </a:pPr>
            <a:r>
              <a:rPr lang="en-US" sz="1250" dirty="0">
                <a:solidFill>
                  <a:srgbClr val="3A4F6B"/>
                </a:solidFill>
                <a:latin typeface="Calibri" pitchFamily="34" charset="0"/>
                <a:ea typeface="Calibri" pitchFamily="34" charset="-122"/>
                <a:cs typeface="Calibri" pitchFamily="34" charset="-120"/>
              </a:rPr>
              <a:t>Moderate-cost, Midwest market</a:t>
            </a:r>
            <a:endParaRPr lang="en-US" sz="1250" dirty="0"/>
          </a:p>
        </p:txBody>
      </p:sp>
      <p:sp>
        <p:nvSpPr>
          <p:cNvPr id="30" name="Shape 28"/>
          <p:cNvSpPr/>
          <p:nvPr/>
        </p:nvSpPr>
        <p:spPr>
          <a:xfrm>
            <a:off x="4873752" y="3675888"/>
            <a:ext cx="457200" cy="338328"/>
          </a:xfrm>
          <a:prstGeom prst="rect">
            <a:avLst/>
          </a:prstGeom>
          <a:solidFill>
            <a:srgbClr val="1B2A4A"/>
          </a:solidFill>
          <a:ln w="12700">
            <a:solidFill>
              <a:srgbClr val="1B2A4A"/>
            </a:solidFill>
            <a:prstDash val="solid"/>
          </a:ln>
        </p:spPr>
      </p:sp>
      <p:sp>
        <p:nvSpPr>
          <p:cNvPr id="31" name="Text 29"/>
          <p:cNvSpPr/>
          <p:nvPr/>
        </p:nvSpPr>
        <p:spPr>
          <a:xfrm>
            <a:off x="4873752" y="3675888"/>
            <a:ext cx="457200"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IL</a:t>
            </a:r>
            <a:endParaRPr lang="en-US" sz="1100" dirty="0"/>
          </a:p>
        </p:txBody>
      </p:sp>
      <p:sp>
        <p:nvSpPr>
          <p:cNvPr id="32" name="Text 30"/>
          <p:cNvSpPr/>
          <p:nvPr/>
        </p:nvSpPr>
        <p:spPr>
          <a:xfrm>
            <a:off x="5413248" y="3694176"/>
            <a:ext cx="3337560" cy="320040"/>
          </a:xfrm>
          <a:prstGeom prst="rect">
            <a:avLst/>
          </a:prstGeom>
          <a:noFill/>
          <a:ln/>
        </p:spPr>
        <p:txBody>
          <a:bodyPr wrap="square" rtlCol="0" anchor="ctr"/>
          <a:lstStyle/>
          <a:p>
            <a:pPr marL="0" indent="0">
              <a:buNone/>
            </a:pPr>
            <a:r>
              <a:rPr lang="en-US" sz="1250" dirty="0">
                <a:solidFill>
                  <a:srgbClr val="3A4F6B"/>
                </a:solidFill>
                <a:latin typeface="Calibri" pitchFamily="34" charset="0"/>
                <a:ea typeface="Calibri" pitchFamily="34" charset="-122"/>
                <a:cs typeface="Calibri" pitchFamily="34" charset="-120"/>
              </a:rPr>
              <a:t>Midwest with large urban center</a:t>
            </a:r>
            <a:endParaRPr lang="en-US" sz="1250" dirty="0"/>
          </a:p>
        </p:txBody>
      </p:sp>
      <p:sp>
        <p:nvSpPr>
          <p:cNvPr id="33" name="Shape 31"/>
          <p:cNvSpPr/>
          <p:nvPr/>
        </p:nvSpPr>
        <p:spPr>
          <a:xfrm>
            <a:off x="4873752" y="4133088"/>
            <a:ext cx="457200" cy="338328"/>
          </a:xfrm>
          <a:prstGeom prst="rect">
            <a:avLst/>
          </a:prstGeom>
          <a:solidFill>
            <a:srgbClr val="1B2A4A"/>
          </a:solidFill>
          <a:ln w="12700">
            <a:solidFill>
              <a:srgbClr val="1B2A4A"/>
            </a:solidFill>
            <a:prstDash val="solid"/>
          </a:ln>
        </p:spPr>
      </p:sp>
      <p:sp>
        <p:nvSpPr>
          <p:cNvPr id="34" name="Text 32"/>
          <p:cNvSpPr/>
          <p:nvPr/>
        </p:nvSpPr>
        <p:spPr>
          <a:xfrm>
            <a:off x="4873752" y="4133088"/>
            <a:ext cx="457200"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AZ</a:t>
            </a:r>
            <a:endParaRPr lang="en-US" sz="1100" dirty="0"/>
          </a:p>
        </p:txBody>
      </p:sp>
      <p:sp>
        <p:nvSpPr>
          <p:cNvPr id="35" name="Text 33"/>
          <p:cNvSpPr/>
          <p:nvPr/>
        </p:nvSpPr>
        <p:spPr>
          <a:xfrm>
            <a:off x="5413248" y="4151376"/>
            <a:ext cx="3337560" cy="320040"/>
          </a:xfrm>
          <a:prstGeom prst="rect">
            <a:avLst/>
          </a:prstGeom>
          <a:noFill/>
          <a:ln/>
        </p:spPr>
        <p:txBody>
          <a:bodyPr wrap="square" rtlCol="0" anchor="ctr"/>
          <a:lstStyle/>
          <a:p>
            <a:pPr marL="0" indent="0">
              <a:buNone/>
            </a:pPr>
            <a:r>
              <a:rPr lang="en-US" sz="1250" dirty="0">
                <a:solidFill>
                  <a:srgbClr val="3A4F6B"/>
                </a:solidFill>
                <a:latin typeface="Calibri" pitchFamily="34" charset="0"/>
                <a:ea typeface="Calibri" pitchFamily="34" charset="-122"/>
                <a:cs typeface="Calibri" pitchFamily="34" charset="-120"/>
              </a:rPr>
              <a:t>Sun Belt, rapid post-2020 growth</a:t>
            </a:r>
            <a:endParaRPr lang="en-US" sz="1250" dirty="0"/>
          </a:p>
        </p:txBody>
      </p:sp>
      <p:sp>
        <p:nvSpPr>
          <p:cNvPr id="36" name="Text 34"/>
          <p:cNvSpPr/>
          <p:nvPr/>
        </p:nvSpPr>
        <p:spPr>
          <a:xfrm>
            <a:off x="4873752" y="4590288"/>
            <a:ext cx="3858768" cy="201168"/>
          </a:xfrm>
          <a:prstGeom prst="rect">
            <a:avLst/>
          </a:prstGeom>
          <a:noFill/>
          <a:ln/>
        </p:spPr>
        <p:txBody>
          <a:bodyPr wrap="square" rtlCol="0" anchor="ctr"/>
          <a:lstStyle/>
          <a:p>
            <a:pPr marL="0" indent="0">
              <a:buNone/>
            </a:pPr>
            <a:r>
              <a:rPr lang="en-US" sz="1050" i="1" dirty="0">
                <a:solidFill>
                  <a:srgbClr val="8898AA"/>
                </a:solidFill>
                <a:latin typeface="Calibri" pitchFamily="34" charset="0"/>
                <a:ea typeface="Calibri" pitchFamily="34" charset="-122"/>
                <a:cs typeface="Calibri" pitchFamily="34" charset="-120"/>
              </a:rPr>
              <a:t>204 observations per state  ·  Q1 1975 – Q4 2025</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Shape 1"/>
          <p:cNvSpPr/>
          <p:nvPr/>
        </p:nvSpPr>
        <p:spPr>
          <a:xfrm>
            <a:off x="0" y="658368"/>
            <a:ext cx="9144000" cy="50292"/>
          </a:xfrm>
          <a:prstGeom prst="rect">
            <a:avLst/>
          </a:prstGeom>
          <a:solidFill>
            <a:srgbClr val="C9993A"/>
          </a:solidFill>
          <a:ln w="12700">
            <a:solidFill>
              <a:srgbClr val="C9993A"/>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Limitations &amp; Mitigation</a:t>
            </a:r>
            <a:endParaRPr lang="en-US" sz="2200" dirty="0"/>
          </a:p>
        </p:txBody>
      </p:sp>
      <p:sp>
        <p:nvSpPr>
          <p:cNvPr id="5" name="Shape 3"/>
          <p:cNvSpPr/>
          <p:nvPr/>
        </p:nvSpPr>
        <p:spPr>
          <a:xfrm>
            <a:off x="0" y="4828032"/>
            <a:ext cx="9144000" cy="310896"/>
          </a:xfrm>
          <a:prstGeom prst="rect">
            <a:avLst/>
          </a:prstGeom>
          <a:solidFill>
            <a:srgbClr val="1B2A4A"/>
          </a:solidFill>
          <a:ln w="12700">
            <a:solidFill>
              <a:srgbClr val="1B2A4A"/>
            </a:solidFill>
            <a:prstDash val="solid"/>
          </a:ln>
        </p:spPr>
      </p:sp>
      <p:sp>
        <p:nvSpPr>
          <p:cNvPr id="6" name="Text 4"/>
          <p:cNvSpPr/>
          <p:nvPr/>
        </p:nvSpPr>
        <p:spPr>
          <a:xfrm>
            <a:off x="274320" y="4828032"/>
            <a:ext cx="7772400" cy="310896"/>
          </a:xfrm>
          <a:prstGeom prst="rect">
            <a:avLst/>
          </a:prstGeom>
          <a:noFill/>
          <a:ln/>
        </p:spPr>
        <p:txBody>
          <a:bodyPr wrap="square" lIns="0" tIns="0" rIns="0" bIns="0" rtlCol="0" anchor="ctr"/>
          <a:lstStyle/>
          <a:p>
            <a:pPr marL="0" indent="0">
              <a:buNone/>
            </a:pPr>
            <a:r>
              <a:rPr lang="en-US" sz="900" dirty="0">
                <a:solidFill>
                  <a:srgbClr val="E3E8F0"/>
                </a:solidFill>
                <a:latin typeface="Calibri" pitchFamily="34" charset="0"/>
                <a:ea typeface="Calibri" pitchFamily="34" charset="-122"/>
                <a:cs typeface="Calibri" pitchFamily="34" charset="-120"/>
              </a:rPr>
              <a:t>Andy Chen  ·  MS Data Science &amp; Analytics  ·  CSU Chico  ·  Proposal Defense</a:t>
            </a:r>
            <a:endParaRPr lang="en-US" sz="900" dirty="0"/>
          </a:p>
        </p:txBody>
      </p:sp>
      <p:sp>
        <p:nvSpPr>
          <p:cNvPr id="7" name="Text 5"/>
          <p:cNvSpPr/>
          <p:nvPr/>
        </p:nvSpPr>
        <p:spPr>
          <a:xfrm>
            <a:off x="8321040" y="4828032"/>
            <a:ext cx="548640" cy="310896"/>
          </a:xfrm>
          <a:prstGeom prst="rect">
            <a:avLst/>
          </a:prstGeom>
          <a:noFill/>
          <a:ln/>
        </p:spPr>
        <p:txBody>
          <a:bodyPr wrap="square" lIns="0" tIns="0" rIns="0" bIns="0" rtlCol="0" anchor="ctr"/>
          <a:lstStyle/>
          <a:p>
            <a:pPr marL="0" indent="0" algn="r">
              <a:buNone/>
            </a:pPr>
            <a:r>
              <a:rPr lang="en-US" sz="900" b="1" dirty="0">
                <a:solidFill>
                  <a:srgbClr val="C9993A"/>
                </a:solidFill>
                <a:latin typeface="Calibri" pitchFamily="34" charset="0"/>
                <a:ea typeface="Calibri" pitchFamily="34" charset="-122"/>
                <a:cs typeface="Calibri" pitchFamily="34" charset="-120"/>
              </a:rPr>
              <a:t>7</a:t>
            </a:r>
            <a:endParaRPr lang="en-US" sz="900" dirty="0"/>
          </a:p>
        </p:txBody>
      </p:sp>
      <p:sp>
        <p:nvSpPr>
          <p:cNvPr id="8" name="Shape 6"/>
          <p:cNvSpPr/>
          <p:nvPr/>
        </p:nvSpPr>
        <p:spPr>
          <a:xfrm>
            <a:off x="256032" y="804672"/>
            <a:ext cx="8631936" cy="914400"/>
          </a:xfrm>
          <a:prstGeom prst="rect">
            <a:avLst/>
          </a:prstGeom>
          <a:solidFill>
            <a:srgbClr val="1B2A4A"/>
          </a:solidFill>
          <a:ln w="12700">
            <a:solidFill>
              <a:srgbClr val="1B2A4A"/>
            </a:solidFill>
            <a:prstDash val="solid"/>
          </a:ln>
        </p:spPr>
      </p:sp>
      <p:sp>
        <p:nvSpPr>
          <p:cNvPr id="9" name="Text 7"/>
          <p:cNvSpPr/>
          <p:nvPr/>
        </p:nvSpPr>
        <p:spPr>
          <a:xfrm>
            <a:off x="438912" y="804672"/>
            <a:ext cx="8266176" cy="914400"/>
          </a:xfrm>
          <a:prstGeom prst="rect">
            <a:avLst/>
          </a:prstGeom>
          <a:noFill/>
          <a:ln/>
        </p:spPr>
        <p:txBody>
          <a:bodyPr wrap="square" rtlCol="0" anchor="ctr"/>
          <a:lstStyle/>
          <a:p>
            <a:pPr marL="0" indent="0" algn="ctr">
              <a:buNone/>
            </a:pPr>
            <a:r>
              <a:rPr lang="en-US" sz="1350" dirty="0">
                <a:solidFill>
                  <a:srgbClr val="FFFFFF"/>
                </a:solidFill>
                <a:latin typeface="Calibri" pitchFamily="34" charset="0"/>
                <a:ea typeface="Calibri" pitchFamily="34" charset="-122"/>
                <a:cs typeface="Calibri" pitchFamily="34" charset="-120"/>
              </a:rPr>
              <a:t>Two key measurement constraints are acknowledged upfront. Whether they can be overcome depends on the available data — both are actively tested rather than assumed away.</a:t>
            </a:r>
            <a:endParaRPr lang="en-US" sz="1350" dirty="0"/>
          </a:p>
        </p:txBody>
      </p:sp>
      <p:sp>
        <p:nvSpPr>
          <p:cNvPr id="10" name="Shape 8"/>
          <p:cNvSpPr/>
          <p:nvPr/>
        </p:nvSpPr>
        <p:spPr>
          <a:xfrm>
            <a:off x="256032" y="1874520"/>
            <a:ext cx="4206240" cy="2834640"/>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11" name="Shape 9"/>
          <p:cNvSpPr/>
          <p:nvPr/>
        </p:nvSpPr>
        <p:spPr>
          <a:xfrm>
            <a:off x="256032" y="1874520"/>
            <a:ext cx="50292" cy="2834640"/>
          </a:xfrm>
          <a:prstGeom prst="rect">
            <a:avLst/>
          </a:prstGeom>
          <a:solidFill>
            <a:srgbClr val="2D5FA8"/>
          </a:solidFill>
          <a:ln w="12700">
            <a:solidFill>
              <a:srgbClr val="2D5FA8"/>
            </a:solidFill>
            <a:prstDash val="solid"/>
          </a:ln>
        </p:spPr>
      </p:sp>
      <p:sp>
        <p:nvSpPr>
          <p:cNvPr id="13" name="Text 11"/>
          <p:cNvSpPr/>
          <p:nvPr/>
        </p:nvSpPr>
        <p:spPr>
          <a:xfrm>
            <a:off x="418338" y="1915668"/>
            <a:ext cx="3931920" cy="329184"/>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HOUST is national, not state-level</a:t>
            </a:r>
            <a:endParaRPr lang="en-US" sz="1300" dirty="0"/>
          </a:p>
        </p:txBody>
      </p:sp>
      <p:sp>
        <p:nvSpPr>
          <p:cNvPr id="14" name="Shape 12"/>
          <p:cNvSpPr/>
          <p:nvPr/>
        </p:nvSpPr>
        <p:spPr>
          <a:xfrm>
            <a:off x="384048" y="2286000"/>
            <a:ext cx="3931920" cy="228600"/>
          </a:xfrm>
          <a:prstGeom prst="rect">
            <a:avLst/>
          </a:prstGeom>
          <a:solidFill>
            <a:srgbClr val="E3E8F0"/>
          </a:solidFill>
          <a:ln w="12700">
            <a:solidFill>
              <a:srgbClr val="E3E8F0"/>
            </a:solidFill>
            <a:prstDash val="solid"/>
          </a:ln>
        </p:spPr>
      </p:sp>
      <p:sp>
        <p:nvSpPr>
          <p:cNvPr id="15" name="Text 13"/>
          <p:cNvSpPr/>
          <p:nvPr/>
        </p:nvSpPr>
        <p:spPr>
          <a:xfrm>
            <a:off x="384048" y="2286000"/>
            <a:ext cx="3931920" cy="228600"/>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 The Constraint</a:t>
            </a:r>
            <a:endParaRPr lang="en-US" sz="1000" dirty="0"/>
          </a:p>
        </p:txBody>
      </p:sp>
      <p:sp>
        <p:nvSpPr>
          <p:cNvPr id="16" name="Text 14"/>
          <p:cNvSpPr/>
          <p:nvPr/>
        </p:nvSpPr>
        <p:spPr>
          <a:xfrm>
            <a:off x="384048" y="2542032"/>
            <a:ext cx="3931920" cy="822960"/>
          </a:xfrm>
          <a:prstGeom prst="rect">
            <a:avLst/>
          </a:prstGeom>
          <a:noFill/>
          <a:ln/>
        </p:spPr>
        <p:txBody>
          <a:bodyPr wrap="square" rtlCol="0" anchor="ctr"/>
          <a:lstStyle/>
          <a:p>
            <a:pPr marL="0" indent="0">
              <a:buNone/>
            </a:pPr>
            <a:r>
              <a:rPr lang="en-US" sz="1200" dirty="0">
                <a:solidFill>
                  <a:srgbClr val="3A4F6B"/>
                </a:solidFill>
                <a:latin typeface="Calibri" pitchFamily="34" charset="0"/>
                <a:ea typeface="Calibri" pitchFamily="34" charset="-122"/>
                <a:cs typeface="Calibri" pitchFamily="34" charset="-120"/>
              </a:rPr>
              <a:t>Housing Starts (HOUST) is a U.S. aggregate measure. It cannot directly capture state-specific construction activity.</a:t>
            </a:r>
            <a:endParaRPr lang="en-US" sz="1200" dirty="0"/>
          </a:p>
        </p:txBody>
      </p:sp>
      <p:sp>
        <p:nvSpPr>
          <p:cNvPr id="17" name="Shape 15"/>
          <p:cNvSpPr/>
          <p:nvPr/>
        </p:nvSpPr>
        <p:spPr>
          <a:xfrm>
            <a:off x="384048" y="3401568"/>
            <a:ext cx="3931920" cy="228600"/>
          </a:xfrm>
          <a:prstGeom prst="rect">
            <a:avLst/>
          </a:prstGeom>
          <a:solidFill>
            <a:srgbClr val="2D5FA8"/>
          </a:solidFill>
          <a:ln w="12700">
            <a:solidFill>
              <a:srgbClr val="2D5FA8"/>
            </a:solidFill>
            <a:prstDash val="solid"/>
          </a:ln>
        </p:spPr>
      </p:sp>
      <p:sp>
        <p:nvSpPr>
          <p:cNvPr id="18" name="Text 16"/>
          <p:cNvSpPr/>
          <p:nvPr/>
        </p:nvSpPr>
        <p:spPr>
          <a:xfrm>
            <a:off x="384048" y="3401568"/>
            <a:ext cx="3931920" cy="2286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How It Will Be Handled</a:t>
            </a:r>
            <a:endParaRPr lang="en-US" sz="1000" dirty="0"/>
          </a:p>
        </p:txBody>
      </p:sp>
      <p:sp>
        <p:nvSpPr>
          <p:cNvPr id="19" name="Text 17"/>
          <p:cNvSpPr/>
          <p:nvPr/>
        </p:nvSpPr>
        <p:spPr>
          <a:xfrm>
            <a:off x="384048" y="3657600"/>
            <a:ext cx="3931920" cy="960120"/>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FHFA state-level HPIs serve as the primary state housing variable. HOUST is used only as a national baseline in Model 1. If state-level starts data becomes available, it will be incorporated.</a:t>
            </a:r>
            <a:endParaRPr lang="en-US" sz="1150" dirty="0"/>
          </a:p>
        </p:txBody>
      </p:sp>
      <p:sp>
        <p:nvSpPr>
          <p:cNvPr id="20" name="Shape 18"/>
          <p:cNvSpPr/>
          <p:nvPr/>
        </p:nvSpPr>
        <p:spPr>
          <a:xfrm>
            <a:off x="4690872" y="1874520"/>
            <a:ext cx="4206240" cy="2834640"/>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21" name="Shape 19"/>
          <p:cNvSpPr/>
          <p:nvPr/>
        </p:nvSpPr>
        <p:spPr>
          <a:xfrm>
            <a:off x="4690872" y="1874520"/>
            <a:ext cx="50292" cy="2834640"/>
          </a:xfrm>
          <a:prstGeom prst="rect">
            <a:avLst/>
          </a:prstGeom>
          <a:solidFill>
            <a:srgbClr val="1A7A8A"/>
          </a:solidFill>
          <a:ln w="12700">
            <a:solidFill>
              <a:srgbClr val="1A7A8A"/>
            </a:solidFill>
            <a:prstDash val="solid"/>
          </a:ln>
        </p:spPr>
      </p:sp>
      <p:sp>
        <p:nvSpPr>
          <p:cNvPr id="23" name="Text 21"/>
          <p:cNvSpPr/>
          <p:nvPr/>
        </p:nvSpPr>
        <p:spPr>
          <a:xfrm>
            <a:off x="4818888" y="1915668"/>
            <a:ext cx="3931920" cy="329184"/>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CPIAUCSL does not vary by state</a:t>
            </a:r>
            <a:endParaRPr lang="en-US" sz="1300" dirty="0"/>
          </a:p>
        </p:txBody>
      </p:sp>
      <p:sp>
        <p:nvSpPr>
          <p:cNvPr id="24" name="Shape 22"/>
          <p:cNvSpPr/>
          <p:nvPr/>
        </p:nvSpPr>
        <p:spPr>
          <a:xfrm>
            <a:off x="4818888" y="2286000"/>
            <a:ext cx="3931920" cy="228600"/>
          </a:xfrm>
          <a:prstGeom prst="rect">
            <a:avLst/>
          </a:prstGeom>
          <a:solidFill>
            <a:srgbClr val="E3E8F0"/>
          </a:solidFill>
          <a:ln w="12700">
            <a:solidFill>
              <a:srgbClr val="E3E8F0"/>
            </a:solidFill>
            <a:prstDash val="solid"/>
          </a:ln>
        </p:spPr>
      </p:sp>
      <p:sp>
        <p:nvSpPr>
          <p:cNvPr id="25" name="Text 23"/>
          <p:cNvSpPr/>
          <p:nvPr/>
        </p:nvSpPr>
        <p:spPr>
          <a:xfrm>
            <a:off x="4818888" y="2286000"/>
            <a:ext cx="3931920" cy="228600"/>
          </a:xfrm>
          <a:prstGeom prst="rect">
            <a:avLst/>
          </a:prstGeom>
          <a:noFill/>
          <a:ln/>
        </p:spPr>
        <p:txBody>
          <a:bodyPr wrap="square" lIns="0" tIns="0" rIns="0" bIns="0" rtlCol="0" anchor="ctr"/>
          <a:lstStyle/>
          <a:p>
            <a:pPr marL="0" indent="0">
              <a:buNone/>
            </a:pPr>
            <a:r>
              <a:rPr lang="en-US" sz="1000" b="1" dirty="0">
                <a:solidFill>
                  <a:srgbClr val="1B2A4A"/>
                </a:solidFill>
                <a:latin typeface="Calibri" pitchFamily="34" charset="0"/>
                <a:ea typeface="Calibri" pitchFamily="34" charset="-122"/>
                <a:cs typeface="Calibri" pitchFamily="34" charset="-120"/>
              </a:rPr>
              <a:t> The Constraint</a:t>
            </a:r>
            <a:endParaRPr lang="en-US" sz="1000" dirty="0"/>
          </a:p>
        </p:txBody>
      </p:sp>
      <p:sp>
        <p:nvSpPr>
          <p:cNvPr id="26" name="Text 24"/>
          <p:cNvSpPr/>
          <p:nvPr/>
        </p:nvSpPr>
        <p:spPr>
          <a:xfrm>
            <a:off x="4818888" y="2542032"/>
            <a:ext cx="3931920" cy="822960"/>
          </a:xfrm>
          <a:prstGeom prst="rect">
            <a:avLst/>
          </a:prstGeom>
          <a:noFill/>
          <a:ln/>
        </p:spPr>
        <p:txBody>
          <a:bodyPr wrap="square" rtlCol="0" anchor="ctr"/>
          <a:lstStyle/>
          <a:p>
            <a:pPr marL="0" indent="0">
              <a:buNone/>
            </a:pPr>
            <a:r>
              <a:rPr lang="en-US" sz="1200" dirty="0">
                <a:solidFill>
                  <a:srgbClr val="3A4F6B"/>
                </a:solidFill>
                <a:latin typeface="Calibri" pitchFamily="34" charset="0"/>
                <a:ea typeface="Calibri" pitchFamily="34" charset="-122"/>
                <a:cs typeface="Calibri" pitchFamily="34" charset="-120"/>
              </a:rPr>
              <a:t>The all-urban CPI is a single national inflation measure. It cannot capture differences in price growth across California, Texas, Ohio, or other states.</a:t>
            </a:r>
            <a:endParaRPr lang="en-US" sz="1200" dirty="0"/>
          </a:p>
        </p:txBody>
      </p:sp>
      <p:sp>
        <p:nvSpPr>
          <p:cNvPr id="27" name="Shape 25"/>
          <p:cNvSpPr/>
          <p:nvPr/>
        </p:nvSpPr>
        <p:spPr>
          <a:xfrm>
            <a:off x="4818888" y="3401568"/>
            <a:ext cx="3931920" cy="228600"/>
          </a:xfrm>
          <a:prstGeom prst="rect">
            <a:avLst/>
          </a:prstGeom>
          <a:solidFill>
            <a:srgbClr val="1A7A8A"/>
          </a:solidFill>
          <a:ln w="12700">
            <a:solidFill>
              <a:srgbClr val="1A7A8A"/>
            </a:solidFill>
            <a:prstDash val="solid"/>
          </a:ln>
        </p:spPr>
      </p:sp>
      <p:sp>
        <p:nvSpPr>
          <p:cNvPr id="28" name="Text 26"/>
          <p:cNvSpPr/>
          <p:nvPr/>
        </p:nvSpPr>
        <p:spPr>
          <a:xfrm>
            <a:off x="4818888" y="3401568"/>
            <a:ext cx="3931920" cy="2286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How It Will Be Handled</a:t>
            </a:r>
            <a:endParaRPr lang="en-US" sz="1000" dirty="0"/>
          </a:p>
        </p:txBody>
      </p:sp>
      <p:sp>
        <p:nvSpPr>
          <p:cNvPr id="29" name="Text 27"/>
          <p:cNvSpPr/>
          <p:nvPr/>
        </p:nvSpPr>
        <p:spPr>
          <a:xfrm>
            <a:off x="4818888" y="3657600"/>
            <a:ext cx="3931920" cy="960120"/>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State-level HPI growth rates serve as a partial proxy for local price conditions. Models will test whether HPI moderates the national inflation signal. Results will be interpreted with this constraint clearly stated.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Shape 1"/>
          <p:cNvSpPr/>
          <p:nvPr/>
        </p:nvSpPr>
        <p:spPr>
          <a:xfrm>
            <a:off x="0" y="658368"/>
            <a:ext cx="9144000" cy="50292"/>
          </a:xfrm>
          <a:prstGeom prst="rect">
            <a:avLst/>
          </a:prstGeom>
          <a:solidFill>
            <a:srgbClr val="C9993A"/>
          </a:solidFill>
          <a:ln w="12700">
            <a:solidFill>
              <a:srgbClr val="C9993A"/>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Statistical Analysis Plan</a:t>
            </a:r>
            <a:endParaRPr lang="en-US" sz="2200" dirty="0"/>
          </a:p>
        </p:txBody>
      </p:sp>
      <p:sp>
        <p:nvSpPr>
          <p:cNvPr id="5" name="Shape 3"/>
          <p:cNvSpPr/>
          <p:nvPr/>
        </p:nvSpPr>
        <p:spPr>
          <a:xfrm>
            <a:off x="0" y="4828032"/>
            <a:ext cx="9144000" cy="310896"/>
          </a:xfrm>
          <a:prstGeom prst="rect">
            <a:avLst/>
          </a:prstGeom>
          <a:solidFill>
            <a:srgbClr val="1B2A4A"/>
          </a:solidFill>
          <a:ln w="12700">
            <a:solidFill>
              <a:srgbClr val="1B2A4A"/>
            </a:solidFill>
            <a:prstDash val="solid"/>
          </a:ln>
        </p:spPr>
      </p:sp>
      <p:sp>
        <p:nvSpPr>
          <p:cNvPr id="6" name="Text 4"/>
          <p:cNvSpPr/>
          <p:nvPr/>
        </p:nvSpPr>
        <p:spPr>
          <a:xfrm>
            <a:off x="274320" y="4828032"/>
            <a:ext cx="7772400" cy="310896"/>
          </a:xfrm>
          <a:prstGeom prst="rect">
            <a:avLst/>
          </a:prstGeom>
          <a:noFill/>
          <a:ln/>
        </p:spPr>
        <p:txBody>
          <a:bodyPr wrap="square" lIns="0" tIns="0" rIns="0" bIns="0" rtlCol="0" anchor="ctr"/>
          <a:lstStyle/>
          <a:p>
            <a:pPr marL="0" indent="0">
              <a:buNone/>
            </a:pPr>
            <a:r>
              <a:rPr lang="en-US" sz="900" dirty="0">
                <a:solidFill>
                  <a:srgbClr val="E3E8F0"/>
                </a:solidFill>
                <a:latin typeface="Calibri" pitchFamily="34" charset="0"/>
                <a:ea typeface="Calibri" pitchFamily="34" charset="-122"/>
                <a:cs typeface="Calibri" pitchFamily="34" charset="-120"/>
              </a:rPr>
              <a:t>Andy Chen  ·  MS Data Science &amp; Analytics  ·  CSU Chico  ·  Proposal Defense</a:t>
            </a:r>
            <a:endParaRPr lang="en-US" sz="900" dirty="0"/>
          </a:p>
        </p:txBody>
      </p:sp>
      <p:sp>
        <p:nvSpPr>
          <p:cNvPr id="7" name="Text 5"/>
          <p:cNvSpPr/>
          <p:nvPr/>
        </p:nvSpPr>
        <p:spPr>
          <a:xfrm>
            <a:off x="8321040" y="4828032"/>
            <a:ext cx="548640" cy="310896"/>
          </a:xfrm>
          <a:prstGeom prst="rect">
            <a:avLst/>
          </a:prstGeom>
          <a:noFill/>
          <a:ln/>
        </p:spPr>
        <p:txBody>
          <a:bodyPr wrap="square" lIns="0" tIns="0" rIns="0" bIns="0" rtlCol="0" anchor="ctr"/>
          <a:lstStyle/>
          <a:p>
            <a:pPr marL="0" indent="0" algn="r">
              <a:buNone/>
            </a:pPr>
            <a:r>
              <a:rPr lang="en-US" sz="900" b="1" dirty="0">
                <a:solidFill>
                  <a:srgbClr val="C9993A"/>
                </a:solidFill>
                <a:latin typeface="Calibri" pitchFamily="34" charset="0"/>
                <a:ea typeface="Calibri" pitchFamily="34" charset="-122"/>
                <a:cs typeface="Calibri" pitchFamily="34" charset="-120"/>
              </a:rPr>
              <a:t>8</a:t>
            </a:r>
            <a:endParaRPr lang="en-US" sz="900" dirty="0"/>
          </a:p>
        </p:txBody>
      </p:sp>
      <p:sp>
        <p:nvSpPr>
          <p:cNvPr id="8" name="Shape 6"/>
          <p:cNvSpPr/>
          <p:nvPr/>
        </p:nvSpPr>
        <p:spPr>
          <a:xfrm>
            <a:off x="246888" y="822960"/>
            <a:ext cx="2011680" cy="3904488"/>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9" name="Shape 7"/>
          <p:cNvSpPr/>
          <p:nvPr/>
        </p:nvSpPr>
        <p:spPr>
          <a:xfrm>
            <a:off x="246888" y="822960"/>
            <a:ext cx="2011680" cy="475488"/>
          </a:xfrm>
          <a:prstGeom prst="rect">
            <a:avLst/>
          </a:prstGeom>
          <a:solidFill>
            <a:srgbClr val="1B2A4A"/>
          </a:solidFill>
          <a:ln w="12700">
            <a:solidFill>
              <a:srgbClr val="1B2A4A"/>
            </a:solidFill>
            <a:prstDash val="solid"/>
          </a:ln>
        </p:spPr>
      </p:sp>
      <p:sp>
        <p:nvSpPr>
          <p:cNvPr id="10" name="Text 8"/>
          <p:cNvSpPr/>
          <p:nvPr/>
        </p:nvSpPr>
        <p:spPr>
          <a:xfrm>
            <a:off x="246888" y="822960"/>
            <a:ext cx="2011680"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M1</a:t>
            </a:r>
            <a:endParaRPr lang="en-US" sz="1500" dirty="0"/>
          </a:p>
        </p:txBody>
      </p:sp>
      <p:sp>
        <p:nvSpPr>
          <p:cNvPr id="11" name="Text 9"/>
          <p:cNvSpPr/>
          <p:nvPr/>
        </p:nvSpPr>
        <p:spPr>
          <a:xfrm>
            <a:off x="356616" y="1371600"/>
            <a:ext cx="1810512" cy="402336"/>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Baseline OLS</a:t>
            </a:r>
            <a:endParaRPr lang="en-US" sz="1300" dirty="0"/>
          </a:p>
        </p:txBody>
      </p:sp>
      <p:sp>
        <p:nvSpPr>
          <p:cNvPr id="12" name="Shape 10"/>
          <p:cNvSpPr/>
          <p:nvPr/>
        </p:nvSpPr>
        <p:spPr>
          <a:xfrm>
            <a:off x="356616" y="1783080"/>
            <a:ext cx="1810512" cy="246888"/>
          </a:xfrm>
          <a:prstGeom prst="rect">
            <a:avLst/>
          </a:prstGeom>
          <a:solidFill>
            <a:srgbClr val="E3E8F0"/>
          </a:solidFill>
          <a:ln w="12700">
            <a:solidFill>
              <a:srgbClr val="E3E8F0"/>
            </a:solidFill>
            <a:prstDash val="solid"/>
          </a:ln>
        </p:spPr>
      </p:sp>
      <p:sp>
        <p:nvSpPr>
          <p:cNvPr id="13" name="Text 11"/>
          <p:cNvSpPr/>
          <p:nvPr/>
        </p:nvSpPr>
        <p:spPr>
          <a:xfrm>
            <a:off x="356616" y="1783080"/>
            <a:ext cx="1810512" cy="246888"/>
          </a:xfrm>
          <a:prstGeom prst="rect">
            <a:avLst/>
          </a:prstGeom>
          <a:noFill/>
          <a:ln/>
        </p:spPr>
        <p:txBody>
          <a:bodyPr wrap="square" lIns="0" tIns="0" rIns="0" bIns="0" rtlCol="0" anchor="ctr"/>
          <a:lstStyle/>
          <a:p>
            <a:pPr marL="0" indent="0" algn="ctr">
              <a:buNone/>
            </a:pPr>
            <a:r>
              <a:rPr lang="en-US" sz="950" dirty="0">
                <a:solidFill>
                  <a:srgbClr val="1B2A4A"/>
                </a:solidFill>
                <a:latin typeface="Calibri" pitchFamily="34" charset="0"/>
                <a:ea typeface="Calibri" pitchFamily="34" charset="-122"/>
                <a:cs typeface="Calibri" pitchFamily="34" charset="-120"/>
              </a:rPr>
              <a:t>Outcome: National housing activity</a:t>
            </a:r>
            <a:endParaRPr lang="en-US" sz="950" dirty="0"/>
          </a:p>
        </p:txBody>
      </p:sp>
      <p:sp>
        <p:nvSpPr>
          <p:cNvPr id="14" name="Text 12"/>
          <p:cNvSpPr/>
          <p:nvPr/>
        </p:nvSpPr>
        <p:spPr>
          <a:xfrm>
            <a:off x="356616" y="2084832"/>
            <a:ext cx="1810512" cy="2514600"/>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Inflation + interest rate + lagged DV.</a:t>
            </a:r>
            <a:endParaRPr lang="en-US" sz="1150" dirty="0"/>
          </a:p>
        </p:txBody>
      </p:sp>
      <p:sp>
        <p:nvSpPr>
          <p:cNvPr id="15" name="Shape 13"/>
          <p:cNvSpPr/>
          <p:nvPr/>
        </p:nvSpPr>
        <p:spPr>
          <a:xfrm>
            <a:off x="2432304" y="822960"/>
            <a:ext cx="2011680" cy="3904488"/>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16" name="Shape 14"/>
          <p:cNvSpPr/>
          <p:nvPr/>
        </p:nvSpPr>
        <p:spPr>
          <a:xfrm>
            <a:off x="2432304" y="822960"/>
            <a:ext cx="2011680" cy="475488"/>
          </a:xfrm>
          <a:prstGeom prst="rect">
            <a:avLst/>
          </a:prstGeom>
          <a:solidFill>
            <a:srgbClr val="2D5FA8"/>
          </a:solidFill>
          <a:ln w="12700">
            <a:solidFill>
              <a:srgbClr val="2D5FA8"/>
            </a:solidFill>
            <a:prstDash val="solid"/>
          </a:ln>
        </p:spPr>
      </p:sp>
      <p:sp>
        <p:nvSpPr>
          <p:cNvPr id="17" name="Text 15"/>
          <p:cNvSpPr/>
          <p:nvPr/>
        </p:nvSpPr>
        <p:spPr>
          <a:xfrm>
            <a:off x="2432304" y="822960"/>
            <a:ext cx="2011680"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M2</a:t>
            </a:r>
            <a:endParaRPr lang="en-US" sz="1500" dirty="0"/>
          </a:p>
        </p:txBody>
      </p:sp>
      <p:sp>
        <p:nvSpPr>
          <p:cNvPr id="18" name="Text 16"/>
          <p:cNvSpPr/>
          <p:nvPr/>
        </p:nvSpPr>
        <p:spPr>
          <a:xfrm>
            <a:off x="2542032" y="1371600"/>
            <a:ext cx="1810512" cy="402336"/>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State Panel</a:t>
            </a:r>
            <a:endParaRPr lang="en-US" sz="1300" dirty="0"/>
          </a:p>
        </p:txBody>
      </p:sp>
      <p:sp>
        <p:nvSpPr>
          <p:cNvPr id="19" name="Shape 17"/>
          <p:cNvSpPr/>
          <p:nvPr/>
        </p:nvSpPr>
        <p:spPr>
          <a:xfrm>
            <a:off x="2542032" y="1783080"/>
            <a:ext cx="1810512" cy="246888"/>
          </a:xfrm>
          <a:prstGeom prst="rect">
            <a:avLst/>
          </a:prstGeom>
          <a:solidFill>
            <a:srgbClr val="E3E8F0"/>
          </a:solidFill>
          <a:ln w="12700">
            <a:solidFill>
              <a:srgbClr val="E3E8F0"/>
            </a:solidFill>
            <a:prstDash val="solid"/>
          </a:ln>
        </p:spPr>
      </p:sp>
      <p:sp>
        <p:nvSpPr>
          <p:cNvPr id="20" name="Text 18"/>
          <p:cNvSpPr/>
          <p:nvPr/>
        </p:nvSpPr>
        <p:spPr>
          <a:xfrm>
            <a:off x="2542032" y="1783080"/>
            <a:ext cx="1810512" cy="246888"/>
          </a:xfrm>
          <a:prstGeom prst="rect">
            <a:avLst/>
          </a:prstGeom>
          <a:noFill/>
          <a:ln/>
        </p:spPr>
        <p:txBody>
          <a:bodyPr wrap="square" lIns="0" tIns="0" rIns="0" bIns="0" rtlCol="0" anchor="ctr"/>
          <a:lstStyle/>
          <a:p>
            <a:pPr marL="0" indent="0" algn="ctr">
              <a:buNone/>
            </a:pPr>
            <a:r>
              <a:rPr lang="en-US" sz="950" dirty="0">
                <a:solidFill>
                  <a:srgbClr val="1B2A4A"/>
                </a:solidFill>
                <a:latin typeface="Calibri" pitchFamily="34" charset="0"/>
                <a:ea typeface="Calibri" pitchFamily="34" charset="-122"/>
                <a:cs typeface="Calibri" pitchFamily="34" charset="-120"/>
              </a:rPr>
              <a:t>Outcome: State × quarter</a:t>
            </a:r>
            <a:endParaRPr lang="en-US" sz="950" dirty="0"/>
          </a:p>
        </p:txBody>
      </p:sp>
      <p:sp>
        <p:nvSpPr>
          <p:cNvPr id="21" name="Text 19"/>
          <p:cNvSpPr/>
          <p:nvPr/>
        </p:nvSpPr>
        <p:spPr>
          <a:xfrm>
            <a:off x="2542032" y="2084832"/>
            <a:ext cx="1810512" cy="2514600"/>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State fixed effects + state-level HPI + inflation×state and rate×state interactions.</a:t>
            </a:r>
            <a:endParaRPr lang="en-US" sz="1150" dirty="0"/>
          </a:p>
          <a:p>
            <a:pPr marL="0" indent="0">
              <a:buNone/>
            </a:pPr>
            <a:endParaRPr lang="en-US" sz="1150" dirty="0"/>
          </a:p>
        </p:txBody>
      </p:sp>
      <p:sp>
        <p:nvSpPr>
          <p:cNvPr id="22" name="Shape 20"/>
          <p:cNvSpPr/>
          <p:nvPr/>
        </p:nvSpPr>
        <p:spPr>
          <a:xfrm>
            <a:off x="4617720" y="822960"/>
            <a:ext cx="2011680" cy="3904488"/>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23" name="Shape 21"/>
          <p:cNvSpPr/>
          <p:nvPr/>
        </p:nvSpPr>
        <p:spPr>
          <a:xfrm>
            <a:off x="4617720" y="822960"/>
            <a:ext cx="2011680" cy="475488"/>
          </a:xfrm>
          <a:prstGeom prst="rect">
            <a:avLst/>
          </a:prstGeom>
          <a:solidFill>
            <a:srgbClr val="1A7A8A"/>
          </a:solidFill>
          <a:ln w="12700">
            <a:solidFill>
              <a:srgbClr val="1A7A8A"/>
            </a:solidFill>
            <a:prstDash val="solid"/>
          </a:ln>
        </p:spPr>
      </p:sp>
      <p:sp>
        <p:nvSpPr>
          <p:cNvPr id="24" name="Text 22"/>
          <p:cNvSpPr/>
          <p:nvPr/>
        </p:nvSpPr>
        <p:spPr>
          <a:xfrm>
            <a:off x="4617720" y="822960"/>
            <a:ext cx="2011680"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M3</a:t>
            </a:r>
            <a:endParaRPr lang="en-US" sz="1500" dirty="0"/>
          </a:p>
        </p:txBody>
      </p:sp>
      <p:sp>
        <p:nvSpPr>
          <p:cNvPr id="25" name="Text 23"/>
          <p:cNvSpPr/>
          <p:nvPr/>
        </p:nvSpPr>
        <p:spPr>
          <a:xfrm>
            <a:off x="4727448" y="1371600"/>
            <a:ext cx="1810512" cy="402336"/>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COVID Regime</a:t>
            </a:r>
            <a:endParaRPr lang="en-US" sz="1300" dirty="0"/>
          </a:p>
        </p:txBody>
      </p:sp>
      <p:sp>
        <p:nvSpPr>
          <p:cNvPr id="26" name="Shape 24"/>
          <p:cNvSpPr/>
          <p:nvPr/>
        </p:nvSpPr>
        <p:spPr>
          <a:xfrm>
            <a:off x="4727448" y="1783080"/>
            <a:ext cx="1810512" cy="246888"/>
          </a:xfrm>
          <a:prstGeom prst="rect">
            <a:avLst/>
          </a:prstGeom>
          <a:solidFill>
            <a:srgbClr val="E3E8F0"/>
          </a:solidFill>
          <a:ln w="12700">
            <a:solidFill>
              <a:srgbClr val="E3E8F0"/>
            </a:solidFill>
            <a:prstDash val="solid"/>
          </a:ln>
        </p:spPr>
      </p:sp>
      <p:sp>
        <p:nvSpPr>
          <p:cNvPr id="27" name="Text 25"/>
          <p:cNvSpPr/>
          <p:nvPr/>
        </p:nvSpPr>
        <p:spPr>
          <a:xfrm>
            <a:off x="4727448" y="1783080"/>
            <a:ext cx="1810512" cy="246888"/>
          </a:xfrm>
          <a:prstGeom prst="rect">
            <a:avLst/>
          </a:prstGeom>
          <a:noFill/>
          <a:ln/>
        </p:spPr>
        <p:txBody>
          <a:bodyPr wrap="square" lIns="0" tIns="0" rIns="0" bIns="0" rtlCol="0" anchor="ctr"/>
          <a:lstStyle/>
          <a:p>
            <a:pPr marL="0" indent="0" algn="ctr">
              <a:buNone/>
            </a:pPr>
            <a:r>
              <a:rPr lang="en-US" sz="950" dirty="0">
                <a:solidFill>
                  <a:srgbClr val="1B2A4A"/>
                </a:solidFill>
                <a:latin typeface="Calibri" pitchFamily="34" charset="0"/>
                <a:ea typeface="Calibri" pitchFamily="34" charset="-122"/>
                <a:cs typeface="Calibri" pitchFamily="34" charset="-120"/>
              </a:rPr>
              <a:t>Outcome: Structural break</a:t>
            </a:r>
            <a:endParaRPr lang="en-US" sz="950" dirty="0"/>
          </a:p>
        </p:txBody>
      </p:sp>
      <p:sp>
        <p:nvSpPr>
          <p:cNvPr id="28" name="Text 26"/>
          <p:cNvSpPr/>
          <p:nvPr/>
        </p:nvSpPr>
        <p:spPr>
          <a:xfrm>
            <a:off x="4727448" y="2084832"/>
            <a:ext cx="1810512" cy="2514600"/>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COVID binary (Q1 2020+) + inflation×COVID + rate×COVID interactions.</a:t>
            </a:r>
            <a:endParaRPr lang="en-US" sz="1150" dirty="0"/>
          </a:p>
        </p:txBody>
      </p:sp>
      <p:sp>
        <p:nvSpPr>
          <p:cNvPr id="29" name="Shape 27"/>
          <p:cNvSpPr/>
          <p:nvPr/>
        </p:nvSpPr>
        <p:spPr>
          <a:xfrm>
            <a:off x="6803136" y="822960"/>
            <a:ext cx="2011680" cy="3904488"/>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30" name="Shape 28"/>
          <p:cNvSpPr/>
          <p:nvPr/>
        </p:nvSpPr>
        <p:spPr>
          <a:xfrm>
            <a:off x="6803136" y="822960"/>
            <a:ext cx="2011680" cy="475488"/>
          </a:xfrm>
          <a:prstGeom prst="rect">
            <a:avLst/>
          </a:prstGeom>
          <a:solidFill>
            <a:srgbClr val="C9993A"/>
          </a:solidFill>
          <a:ln w="12700">
            <a:solidFill>
              <a:srgbClr val="C9993A"/>
            </a:solidFill>
            <a:prstDash val="solid"/>
          </a:ln>
        </p:spPr>
      </p:sp>
      <p:sp>
        <p:nvSpPr>
          <p:cNvPr id="31" name="Text 29"/>
          <p:cNvSpPr/>
          <p:nvPr/>
        </p:nvSpPr>
        <p:spPr>
          <a:xfrm>
            <a:off x="6803136" y="822960"/>
            <a:ext cx="2011680"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M4</a:t>
            </a:r>
            <a:endParaRPr lang="en-US" sz="1500" dirty="0"/>
          </a:p>
        </p:txBody>
      </p:sp>
      <p:sp>
        <p:nvSpPr>
          <p:cNvPr id="32" name="Text 30"/>
          <p:cNvSpPr/>
          <p:nvPr/>
        </p:nvSpPr>
        <p:spPr>
          <a:xfrm>
            <a:off x="6912864" y="1371600"/>
            <a:ext cx="1810512" cy="402336"/>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Predictive</a:t>
            </a:r>
            <a:endParaRPr lang="en-US" sz="1300" dirty="0"/>
          </a:p>
        </p:txBody>
      </p:sp>
      <p:sp>
        <p:nvSpPr>
          <p:cNvPr id="33" name="Shape 31"/>
          <p:cNvSpPr/>
          <p:nvPr/>
        </p:nvSpPr>
        <p:spPr>
          <a:xfrm>
            <a:off x="6912864" y="1783080"/>
            <a:ext cx="1810512" cy="246888"/>
          </a:xfrm>
          <a:prstGeom prst="rect">
            <a:avLst/>
          </a:prstGeom>
          <a:solidFill>
            <a:srgbClr val="E3E8F0"/>
          </a:solidFill>
          <a:ln w="12700">
            <a:solidFill>
              <a:srgbClr val="E3E8F0"/>
            </a:solidFill>
            <a:prstDash val="solid"/>
          </a:ln>
        </p:spPr>
      </p:sp>
      <p:sp>
        <p:nvSpPr>
          <p:cNvPr id="34" name="Text 32"/>
          <p:cNvSpPr/>
          <p:nvPr/>
        </p:nvSpPr>
        <p:spPr>
          <a:xfrm>
            <a:off x="6912864" y="1783080"/>
            <a:ext cx="1810512" cy="246888"/>
          </a:xfrm>
          <a:prstGeom prst="rect">
            <a:avLst/>
          </a:prstGeom>
          <a:noFill/>
          <a:ln/>
        </p:spPr>
        <p:txBody>
          <a:bodyPr wrap="square" lIns="0" tIns="0" rIns="0" bIns="0" rtlCol="0" anchor="ctr"/>
          <a:lstStyle/>
          <a:p>
            <a:pPr marL="0" indent="0" algn="ctr">
              <a:buNone/>
            </a:pPr>
            <a:r>
              <a:rPr lang="en-US" sz="950" dirty="0">
                <a:solidFill>
                  <a:srgbClr val="1B2A4A"/>
                </a:solidFill>
                <a:latin typeface="Calibri" pitchFamily="34" charset="0"/>
                <a:ea typeface="Calibri" pitchFamily="34" charset="-122"/>
                <a:cs typeface="Calibri" pitchFamily="34" charset="-120"/>
              </a:rPr>
              <a:t>Outcome: Forecasting RMSE</a:t>
            </a:r>
            <a:endParaRPr lang="en-US" sz="950" dirty="0"/>
          </a:p>
        </p:txBody>
      </p:sp>
      <p:sp>
        <p:nvSpPr>
          <p:cNvPr id="35" name="Text 33"/>
          <p:cNvSpPr/>
          <p:nvPr/>
        </p:nvSpPr>
        <p:spPr>
          <a:xfrm>
            <a:off x="6912864" y="2084832"/>
            <a:ext cx="1810512" cy="2514600"/>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VAR with impulse response functions (8–12 quarters).</a:t>
            </a:r>
            <a:endParaRPr lang="en-US" sz="1150" dirty="0"/>
          </a:p>
        </p:txBody>
      </p:sp>
      <p:sp>
        <p:nvSpPr>
          <p:cNvPr id="36" name="Text 34"/>
          <p:cNvSpPr/>
          <p:nvPr/>
        </p:nvSpPr>
        <p:spPr>
          <a:xfrm>
            <a:off x="246888" y="4663440"/>
            <a:ext cx="8650224" cy="182880"/>
          </a:xfrm>
          <a:prstGeom prst="rect">
            <a:avLst/>
          </a:prstGeom>
          <a:noFill/>
          <a:ln/>
        </p:spPr>
        <p:txBody>
          <a:bodyPr wrap="square" rtlCol="0" anchor="ctr"/>
          <a:lstStyle/>
          <a:p>
            <a:pPr marL="0" indent="0">
              <a:buNone/>
            </a:pPr>
            <a:r>
              <a:rPr lang="en-US" sz="1000" i="1" dirty="0">
                <a:solidFill>
                  <a:srgbClr val="8898AA"/>
                </a:solidFill>
                <a:latin typeface="Calibri" pitchFamily="34" charset="0"/>
                <a:ea typeface="Calibri" pitchFamily="34" charset="-122"/>
                <a:cs typeface="Calibri" pitchFamily="34" charset="-120"/>
              </a:rPr>
              <a:t>All variables transformed per FRED-QD appendix codes  ·  ADF stationarity tests applied before modeling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Shape 1"/>
          <p:cNvSpPr/>
          <p:nvPr/>
        </p:nvSpPr>
        <p:spPr>
          <a:xfrm>
            <a:off x="0" y="658368"/>
            <a:ext cx="9144000" cy="50292"/>
          </a:xfrm>
          <a:prstGeom prst="rect">
            <a:avLst/>
          </a:prstGeom>
          <a:solidFill>
            <a:srgbClr val="C9993A"/>
          </a:solidFill>
          <a:ln w="12700">
            <a:solidFill>
              <a:srgbClr val="C9993A"/>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Project Timeline</a:t>
            </a:r>
            <a:endParaRPr lang="en-US" sz="2200" dirty="0"/>
          </a:p>
        </p:txBody>
      </p:sp>
      <p:sp>
        <p:nvSpPr>
          <p:cNvPr id="5" name="Shape 3"/>
          <p:cNvSpPr/>
          <p:nvPr/>
        </p:nvSpPr>
        <p:spPr>
          <a:xfrm>
            <a:off x="0" y="4828032"/>
            <a:ext cx="9144000" cy="310896"/>
          </a:xfrm>
          <a:prstGeom prst="rect">
            <a:avLst/>
          </a:prstGeom>
          <a:solidFill>
            <a:srgbClr val="1B2A4A"/>
          </a:solidFill>
          <a:ln w="12700">
            <a:solidFill>
              <a:srgbClr val="1B2A4A"/>
            </a:solidFill>
            <a:prstDash val="solid"/>
          </a:ln>
        </p:spPr>
      </p:sp>
      <p:sp>
        <p:nvSpPr>
          <p:cNvPr id="6" name="Text 4"/>
          <p:cNvSpPr/>
          <p:nvPr/>
        </p:nvSpPr>
        <p:spPr>
          <a:xfrm>
            <a:off x="274320" y="4828032"/>
            <a:ext cx="7772400" cy="310896"/>
          </a:xfrm>
          <a:prstGeom prst="rect">
            <a:avLst/>
          </a:prstGeom>
          <a:noFill/>
          <a:ln/>
        </p:spPr>
        <p:txBody>
          <a:bodyPr wrap="square" lIns="0" tIns="0" rIns="0" bIns="0" rtlCol="0" anchor="ctr"/>
          <a:lstStyle/>
          <a:p>
            <a:pPr marL="0" indent="0">
              <a:buNone/>
            </a:pPr>
            <a:r>
              <a:rPr lang="en-US" sz="900" dirty="0">
                <a:solidFill>
                  <a:srgbClr val="E3E8F0"/>
                </a:solidFill>
                <a:latin typeface="Calibri" pitchFamily="34" charset="0"/>
                <a:ea typeface="Calibri" pitchFamily="34" charset="-122"/>
                <a:cs typeface="Calibri" pitchFamily="34" charset="-120"/>
              </a:rPr>
              <a:t>Andy Chen  ·  MS Data Science &amp; Analytics  ·  CSU Chico  ·  Proposal Defense</a:t>
            </a:r>
            <a:endParaRPr lang="en-US" sz="900" dirty="0"/>
          </a:p>
        </p:txBody>
      </p:sp>
      <p:sp>
        <p:nvSpPr>
          <p:cNvPr id="7" name="Text 5"/>
          <p:cNvSpPr/>
          <p:nvPr/>
        </p:nvSpPr>
        <p:spPr>
          <a:xfrm>
            <a:off x="8321040" y="4828032"/>
            <a:ext cx="548640" cy="310896"/>
          </a:xfrm>
          <a:prstGeom prst="rect">
            <a:avLst/>
          </a:prstGeom>
          <a:noFill/>
          <a:ln/>
        </p:spPr>
        <p:txBody>
          <a:bodyPr wrap="square" lIns="0" tIns="0" rIns="0" bIns="0" rtlCol="0" anchor="ctr"/>
          <a:lstStyle/>
          <a:p>
            <a:pPr marL="0" indent="0" algn="r">
              <a:buNone/>
            </a:pPr>
            <a:r>
              <a:rPr lang="en-US" sz="900" b="1" dirty="0">
                <a:solidFill>
                  <a:srgbClr val="C9993A"/>
                </a:solidFill>
                <a:latin typeface="Calibri" pitchFamily="34" charset="0"/>
                <a:ea typeface="Calibri" pitchFamily="34" charset="-122"/>
                <a:cs typeface="Calibri" pitchFamily="34" charset="-120"/>
              </a:rPr>
              <a:t>9</a:t>
            </a:r>
            <a:endParaRPr lang="en-US" sz="900" dirty="0"/>
          </a:p>
        </p:txBody>
      </p:sp>
      <p:sp>
        <p:nvSpPr>
          <p:cNvPr id="8" name="Shape 6"/>
          <p:cNvSpPr/>
          <p:nvPr/>
        </p:nvSpPr>
        <p:spPr>
          <a:xfrm>
            <a:off x="256032" y="804672"/>
            <a:ext cx="2103120" cy="329184"/>
          </a:xfrm>
          <a:prstGeom prst="rect">
            <a:avLst/>
          </a:prstGeom>
          <a:solidFill>
            <a:srgbClr val="2D5FA8"/>
          </a:solidFill>
          <a:ln w="12700">
            <a:solidFill>
              <a:srgbClr val="2D5FA8"/>
            </a:solidFill>
            <a:prstDash val="solid"/>
          </a:ln>
        </p:spPr>
      </p:sp>
      <p:sp>
        <p:nvSpPr>
          <p:cNvPr id="9" name="Text 7"/>
          <p:cNvSpPr/>
          <p:nvPr/>
        </p:nvSpPr>
        <p:spPr>
          <a:xfrm>
            <a:off x="256032" y="804672"/>
            <a:ext cx="210312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Summer 2026</a:t>
            </a:r>
            <a:endParaRPr lang="en-US" sz="900" dirty="0"/>
          </a:p>
        </p:txBody>
      </p:sp>
      <p:sp>
        <p:nvSpPr>
          <p:cNvPr id="10" name="Shape 8"/>
          <p:cNvSpPr/>
          <p:nvPr/>
        </p:nvSpPr>
        <p:spPr>
          <a:xfrm>
            <a:off x="256032" y="1188720"/>
            <a:ext cx="2103120" cy="1691640"/>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11" name="Shape 9"/>
          <p:cNvSpPr/>
          <p:nvPr/>
        </p:nvSpPr>
        <p:spPr>
          <a:xfrm>
            <a:off x="256032" y="1188720"/>
            <a:ext cx="50292" cy="1691640"/>
          </a:xfrm>
          <a:prstGeom prst="rect">
            <a:avLst/>
          </a:prstGeom>
          <a:solidFill>
            <a:srgbClr val="2D5FA8"/>
          </a:solidFill>
          <a:ln w="12700">
            <a:solidFill>
              <a:srgbClr val="2D5FA8"/>
            </a:solidFill>
            <a:prstDash val="solid"/>
          </a:ln>
        </p:spPr>
      </p:sp>
      <p:sp>
        <p:nvSpPr>
          <p:cNvPr id="12" name="Text 10"/>
          <p:cNvSpPr/>
          <p:nvPr/>
        </p:nvSpPr>
        <p:spPr>
          <a:xfrm>
            <a:off x="384048" y="1225296"/>
            <a:ext cx="1920240" cy="237744"/>
          </a:xfrm>
          <a:prstGeom prst="rect">
            <a:avLst/>
          </a:prstGeom>
          <a:noFill/>
          <a:ln/>
        </p:spPr>
        <p:txBody>
          <a:bodyPr wrap="square" rtlCol="0" anchor="ctr"/>
          <a:lstStyle/>
          <a:p>
            <a:pPr marL="0" indent="0">
              <a:buNone/>
            </a:pPr>
            <a:r>
              <a:rPr lang="en-US" sz="950" dirty="0">
                <a:solidFill>
                  <a:srgbClr val="8898AA"/>
                </a:solidFill>
                <a:latin typeface="Calibri" pitchFamily="34" charset="0"/>
                <a:ea typeface="Calibri" pitchFamily="34" charset="-122"/>
                <a:cs typeface="Calibri" pitchFamily="34" charset="-120"/>
              </a:rPr>
              <a:t>Wks 1–2</a:t>
            </a:r>
            <a:endParaRPr lang="en-US" sz="950" dirty="0"/>
          </a:p>
        </p:txBody>
      </p:sp>
      <p:sp>
        <p:nvSpPr>
          <p:cNvPr id="13" name="Text 11"/>
          <p:cNvSpPr/>
          <p:nvPr/>
        </p:nvSpPr>
        <p:spPr>
          <a:xfrm>
            <a:off x="384048" y="1444752"/>
            <a:ext cx="1920240" cy="347472"/>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Data Prep</a:t>
            </a:r>
            <a:endParaRPr lang="en-US" sz="1250" dirty="0"/>
          </a:p>
        </p:txBody>
      </p:sp>
      <p:sp>
        <p:nvSpPr>
          <p:cNvPr id="14" name="Text 12"/>
          <p:cNvSpPr/>
          <p:nvPr/>
        </p:nvSpPr>
        <p:spPr>
          <a:xfrm>
            <a:off x="384048" y="1792224"/>
            <a:ext cx="1920240" cy="1033272"/>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Clean &amp; merge FRED-QD + FHFA into panel dataset</a:t>
            </a:r>
            <a:endParaRPr lang="en-US" sz="1150" dirty="0"/>
          </a:p>
        </p:txBody>
      </p:sp>
      <p:sp>
        <p:nvSpPr>
          <p:cNvPr id="15" name="Shape 13"/>
          <p:cNvSpPr/>
          <p:nvPr/>
        </p:nvSpPr>
        <p:spPr>
          <a:xfrm>
            <a:off x="2432304" y="804672"/>
            <a:ext cx="2103120" cy="329184"/>
          </a:xfrm>
          <a:prstGeom prst="rect">
            <a:avLst/>
          </a:prstGeom>
          <a:solidFill>
            <a:srgbClr val="2D5FA8"/>
          </a:solidFill>
          <a:ln w="12700">
            <a:solidFill>
              <a:srgbClr val="2D5FA8"/>
            </a:solidFill>
            <a:prstDash val="solid"/>
          </a:ln>
        </p:spPr>
      </p:sp>
      <p:sp>
        <p:nvSpPr>
          <p:cNvPr id="16" name="Text 14"/>
          <p:cNvSpPr/>
          <p:nvPr/>
        </p:nvSpPr>
        <p:spPr>
          <a:xfrm>
            <a:off x="2432304" y="804672"/>
            <a:ext cx="210312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Summer 2026</a:t>
            </a:r>
            <a:endParaRPr lang="en-US" sz="900" dirty="0"/>
          </a:p>
        </p:txBody>
      </p:sp>
      <p:sp>
        <p:nvSpPr>
          <p:cNvPr id="17" name="Shape 15"/>
          <p:cNvSpPr/>
          <p:nvPr/>
        </p:nvSpPr>
        <p:spPr>
          <a:xfrm>
            <a:off x="2432304" y="1188720"/>
            <a:ext cx="2103120" cy="1691640"/>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18" name="Shape 16"/>
          <p:cNvSpPr/>
          <p:nvPr/>
        </p:nvSpPr>
        <p:spPr>
          <a:xfrm>
            <a:off x="2432304" y="1188720"/>
            <a:ext cx="50292" cy="1691640"/>
          </a:xfrm>
          <a:prstGeom prst="rect">
            <a:avLst/>
          </a:prstGeom>
          <a:solidFill>
            <a:srgbClr val="2D5FA8"/>
          </a:solidFill>
          <a:ln w="12700">
            <a:solidFill>
              <a:srgbClr val="2D5FA8"/>
            </a:solidFill>
            <a:prstDash val="solid"/>
          </a:ln>
        </p:spPr>
      </p:sp>
      <p:sp>
        <p:nvSpPr>
          <p:cNvPr id="19" name="Text 17"/>
          <p:cNvSpPr/>
          <p:nvPr/>
        </p:nvSpPr>
        <p:spPr>
          <a:xfrm>
            <a:off x="2560320" y="1225296"/>
            <a:ext cx="1920240" cy="237744"/>
          </a:xfrm>
          <a:prstGeom prst="rect">
            <a:avLst/>
          </a:prstGeom>
          <a:noFill/>
          <a:ln/>
        </p:spPr>
        <p:txBody>
          <a:bodyPr wrap="square" rtlCol="0" anchor="ctr"/>
          <a:lstStyle/>
          <a:p>
            <a:pPr marL="0" indent="0">
              <a:buNone/>
            </a:pPr>
            <a:r>
              <a:rPr lang="en-US" sz="950" dirty="0">
                <a:solidFill>
                  <a:srgbClr val="8898AA"/>
                </a:solidFill>
                <a:latin typeface="Calibri" pitchFamily="34" charset="0"/>
                <a:ea typeface="Calibri" pitchFamily="34" charset="-122"/>
                <a:cs typeface="Calibri" pitchFamily="34" charset="-120"/>
              </a:rPr>
              <a:t>Wk 3</a:t>
            </a:r>
            <a:endParaRPr lang="en-US" sz="950" dirty="0"/>
          </a:p>
        </p:txBody>
      </p:sp>
      <p:sp>
        <p:nvSpPr>
          <p:cNvPr id="20" name="Text 18"/>
          <p:cNvSpPr/>
          <p:nvPr/>
        </p:nvSpPr>
        <p:spPr>
          <a:xfrm>
            <a:off x="2560320" y="1444752"/>
            <a:ext cx="1920240" cy="347472"/>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EDA &amp; Stationarity</a:t>
            </a:r>
            <a:endParaRPr lang="en-US" sz="1250" dirty="0"/>
          </a:p>
        </p:txBody>
      </p:sp>
      <p:sp>
        <p:nvSpPr>
          <p:cNvPr id="21" name="Text 19"/>
          <p:cNvSpPr/>
          <p:nvPr/>
        </p:nvSpPr>
        <p:spPr>
          <a:xfrm>
            <a:off x="2560320" y="1792224"/>
            <a:ext cx="1920240" cy="1033272"/>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Exploratory analysis</a:t>
            </a:r>
            <a:endParaRPr lang="en-US" sz="1150" dirty="0"/>
          </a:p>
        </p:txBody>
      </p:sp>
      <p:sp>
        <p:nvSpPr>
          <p:cNvPr id="22" name="Shape 20"/>
          <p:cNvSpPr/>
          <p:nvPr/>
        </p:nvSpPr>
        <p:spPr>
          <a:xfrm>
            <a:off x="4608576" y="804672"/>
            <a:ext cx="2103120" cy="329184"/>
          </a:xfrm>
          <a:prstGeom prst="rect">
            <a:avLst/>
          </a:prstGeom>
          <a:solidFill>
            <a:srgbClr val="2D5FA8"/>
          </a:solidFill>
          <a:ln w="12700">
            <a:solidFill>
              <a:srgbClr val="2D5FA8"/>
            </a:solidFill>
            <a:prstDash val="solid"/>
          </a:ln>
        </p:spPr>
      </p:sp>
      <p:sp>
        <p:nvSpPr>
          <p:cNvPr id="23" name="Text 21"/>
          <p:cNvSpPr/>
          <p:nvPr/>
        </p:nvSpPr>
        <p:spPr>
          <a:xfrm>
            <a:off x="4608576" y="804672"/>
            <a:ext cx="210312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Summer 2026</a:t>
            </a:r>
            <a:endParaRPr lang="en-US" sz="900" dirty="0"/>
          </a:p>
        </p:txBody>
      </p:sp>
      <p:sp>
        <p:nvSpPr>
          <p:cNvPr id="24" name="Shape 22"/>
          <p:cNvSpPr/>
          <p:nvPr/>
        </p:nvSpPr>
        <p:spPr>
          <a:xfrm>
            <a:off x="4608576" y="1188720"/>
            <a:ext cx="2103120" cy="1691640"/>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25" name="Shape 23"/>
          <p:cNvSpPr/>
          <p:nvPr/>
        </p:nvSpPr>
        <p:spPr>
          <a:xfrm>
            <a:off x="4608576" y="1188720"/>
            <a:ext cx="50292" cy="1691640"/>
          </a:xfrm>
          <a:prstGeom prst="rect">
            <a:avLst/>
          </a:prstGeom>
          <a:solidFill>
            <a:srgbClr val="2D5FA8"/>
          </a:solidFill>
          <a:ln w="12700">
            <a:solidFill>
              <a:srgbClr val="2D5FA8"/>
            </a:solidFill>
            <a:prstDash val="solid"/>
          </a:ln>
        </p:spPr>
      </p:sp>
      <p:sp>
        <p:nvSpPr>
          <p:cNvPr id="26" name="Text 24"/>
          <p:cNvSpPr/>
          <p:nvPr/>
        </p:nvSpPr>
        <p:spPr>
          <a:xfrm>
            <a:off x="4736592" y="1225296"/>
            <a:ext cx="1920240" cy="237744"/>
          </a:xfrm>
          <a:prstGeom prst="rect">
            <a:avLst/>
          </a:prstGeom>
          <a:noFill/>
          <a:ln/>
        </p:spPr>
        <p:txBody>
          <a:bodyPr wrap="square" rtlCol="0" anchor="ctr"/>
          <a:lstStyle/>
          <a:p>
            <a:pPr marL="0" indent="0">
              <a:buNone/>
            </a:pPr>
            <a:r>
              <a:rPr lang="en-US" sz="950" dirty="0">
                <a:solidFill>
                  <a:srgbClr val="8898AA"/>
                </a:solidFill>
                <a:latin typeface="Calibri" pitchFamily="34" charset="0"/>
                <a:ea typeface="Calibri" pitchFamily="34" charset="-122"/>
                <a:cs typeface="Calibri" pitchFamily="34" charset="-120"/>
              </a:rPr>
              <a:t>Wks 4–5</a:t>
            </a:r>
            <a:endParaRPr lang="en-US" sz="950" dirty="0"/>
          </a:p>
        </p:txBody>
      </p:sp>
      <p:sp>
        <p:nvSpPr>
          <p:cNvPr id="27" name="Text 25"/>
          <p:cNvSpPr/>
          <p:nvPr/>
        </p:nvSpPr>
        <p:spPr>
          <a:xfrm>
            <a:off x="4736592" y="1444752"/>
            <a:ext cx="1920240" cy="347472"/>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Models 1 &amp; 2</a:t>
            </a:r>
            <a:endParaRPr lang="en-US" sz="1250" dirty="0"/>
          </a:p>
        </p:txBody>
      </p:sp>
      <p:sp>
        <p:nvSpPr>
          <p:cNvPr id="28" name="Text 26"/>
          <p:cNvSpPr/>
          <p:nvPr/>
        </p:nvSpPr>
        <p:spPr>
          <a:xfrm>
            <a:off x="4736592" y="1792224"/>
            <a:ext cx="1920240" cy="1033272"/>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Baseline OLS + state heterogeneity panel regression</a:t>
            </a:r>
            <a:endParaRPr lang="en-US" sz="1150" dirty="0"/>
          </a:p>
        </p:txBody>
      </p:sp>
      <p:sp>
        <p:nvSpPr>
          <p:cNvPr id="29" name="Shape 27"/>
          <p:cNvSpPr/>
          <p:nvPr/>
        </p:nvSpPr>
        <p:spPr>
          <a:xfrm>
            <a:off x="6784848" y="804672"/>
            <a:ext cx="2103120" cy="329184"/>
          </a:xfrm>
          <a:prstGeom prst="rect">
            <a:avLst/>
          </a:prstGeom>
          <a:solidFill>
            <a:srgbClr val="1A7A8A"/>
          </a:solidFill>
          <a:ln w="12700">
            <a:solidFill>
              <a:srgbClr val="1A7A8A"/>
            </a:solidFill>
            <a:prstDash val="solid"/>
          </a:ln>
        </p:spPr>
      </p:sp>
      <p:sp>
        <p:nvSpPr>
          <p:cNvPr id="30" name="Text 28"/>
          <p:cNvSpPr/>
          <p:nvPr/>
        </p:nvSpPr>
        <p:spPr>
          <a:xfrm>
            <a:off x="6784848" y="804672"/>
            <a:ext cx="210312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Fall 2026</a:t>
            </a:r>
            <a:endParaRPr lang="en-US" sz="900" dirty="0"/>
          </a:p>
        </p:txBody>
      </p:sp>
      <p:sp>
        <p:nvSpPr>
          <p:cNvPr id="31" name="Shape 29"/>
          <p:cNvSpPr/>
          <p:nvPr/>
        </p:nvSpPr>
        <p:spPr>
          <a:xfrm>
            <a:off x="6784848" y="1188720"/>
            <a:ext cx="2103120" cy="1691640"/>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32" name="Shape 30"/>
          <p:cNvSpPr/>
          <p:nvPr/>
        </p:nvSpPr>
        <p:spPr>
          <a:xfrm>
            <a:off x="6784848" y="1188720"/>
            <a:ext cx="50292" cy="1691640"/>
          </a:xfrm>
          <a:prstGeom prst="rect">
            <a:avLst/>
          </a:prstGeom>
          <a:solidFill>
            <a:srgbClr val="1A7A8A"/>
          </a:solidFill>
          <a:ln w="12700">
            <a:solidFill>
              <a:srgbClr val="1A7A8A"/>
            </a:solidFill>
            <a:prstDash val="solid"/>
          </a:ln>
        </p:spPr>
      </p:sp>
      <p:sp>
        <p:nvSpPr>
          <p:cNvPr id="33" name="Text 31"/>
          <p:cNvSpPr/>
          <p:nvPr/>
        </p:nvSpPr>
        <p:spPr>
          <a:xfrm>
            <a:off x="6912864" y="1225296"/>
            <a:ext cx="1920240" cy="237744"/>
          </a:xfrm>
          <a:prstGeom prst="rect">
            <a:avLst/>
          </a:prstGeom>
          <a:noFill/>
          <a:ln/>
        </p:spPr>
        <p:txBody>
          <a:bodyPr wrap="square" rtlCol="0" anchor="ctr"/>
          <a:lstStyle/>
          <a:p>
            <a:pPr marL="0" indent="0">
              <a:buNone/>
            </a:pPr>
            <a:r>
              <a:rPr lang="en-US" sz="950" dirty="0">
                <a:solidFill>
                  <a:srgbClr val="8898AA"/>
                </a:solidFill>
                <a:latin typeface="Calibri" pitchFamily="34" charset="0"/>
                <a:ea typeface="Calibri" pitchFamily="34" charset="-122"/>
                <a:cs typeface="Calibri" pitchFamily="34" charset="-120"/>
              </a:rPr>
              <a:t>Wk 6</a:t>
            </a:r>
            <a:endParaRPr lang="en-US" sz="950" dirty="0"/>
          </a:p>
        </p:txBody>
      </p:sp>
      <p:sp>
        <p:nvSpPr>
          <p:cNvPr id="34" name="Text 32"/>
          <p:cNvSpPr/>
          <p:nvPr/>
        </p:nvSpPr>
        <p:spPr>
          <a:xfrm>
            <a:off x="6912864" y="1444752"/>
            <a:ext cx="1920240" cy="347472"/>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Model 3</a:t>
            </a:r>
            <a:endParaRPr lang="en-US" sz="1250" dirty="0"/>
          </a:p>
        </p:txBody>
      </p:sp>
      <p:sp>
        <p:nvSpPr>
          <p:cNvPr id="35" name="Text 33"/>
          <p:cNvSpPr/>
          <p:nvPr/>
        </p:nvSpPr>
        <p:spPr>
          <a:xfrm>
            <a:off x="6912864" y="1792224"/>
            <a:ext cx="1920240" cy="1033272"/>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COVID regime + structural break test</a:t>
            </a:r>
            <a:endParaRPr lang="en-US" sz="1150" dirty="0"/>
          </a:p>
        </p:txBody>
      </p:sp>
      <p:sp>
        <p:nvSpPr>
          <p:cNvPr id="36" name="Shape 34"/>
          <p:cNvSpPr/>
          <p:nvPr/>
        </p:nvSpPr>
        <p:spPr>
          <a:xfrm>
            <a:off x="1344168" y="2999232"/>
            <a:ext cx="2103120" cy="329184"/>
          </a:xfrm>
          <a:prstGeom prst="rect">
            <a:avLst/>
          </a:prstGeom>
          <a:solidFill>
            <a:srgbClr val="1A7A8A"/>
          </a:solidFill>
          <a:ln w="12700">
            <a:solidFill>
              <a:srgbClr val="1A7A8A"/>
            </a:solidFill>
            <a:prstDash val="solid"/>
          </a:ln>
        </p:spPr>
      </p:sp>
      <p:sp>
        <p:nvSpPr>
          <p:cNvPr id="37" name="Text 35"/>
          <p:cNvSpPr/>
          <p:nvPr/>
        </p:nvSpPr>
        <p:spPr>
          <a:xfrm>
            <a:off x="1344168" y="2999232"/>
            <a:ext cx="210312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Fall 2026</a:t>
            </a:r>
            <a:endParaRPr lang="en-US" sz="900" dirty="0"/>
          </a:p>
        </p:txBody>
      </p:sp>
      <p:sp>
        <p:nvSpPr>
          <p:cNvPr id="38" name="Shape 36"/>
          <p:cNvSpPr/>
          <p:nvPr/>
        </p:nvSpPr>
        <p:spPr>
          <a:xfrm>
            <a:off x="1344168" y="3383280"/>
            <a:ext cx="2103120" cy="1298448"/>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39" name="Shape 37"/>
          <p:cNvSpPr/>
          <p:nvPr/>
        </p:nvSpPr>
        <p:spPr>
          <a:xfrm>
            <a:off x="1344168" y="3383280"/>
            <a:ext cx="50292" cy="1298448"/>
          </a:xfrm>
          <a:prstGeom prst="rect">
            <a:avLst/>
          </a:prstGeom>
          <a:solidFill>
            <a:srgbClr val="1A7A8A"/>
          </a:solidFill>
          <a:ln w="12700">
            <a:solidFill>
              <a:srgbClr val="1A7A8A"/>
            </a:solidFill>
            <a:prstDash val="solid"/>
          </a:ln>
        </p:spPr>
      </p:sp>
      <p:sp>
        <p:nvSpPr>
          <p:cNvPr id="40" name="Text 38"/>
          <p:cNvSpPr/>
          <p:nvPr/>
        </p:nvSpPr>
        <p:spPr>
          <a:xfrm>
            <a:off x="1472184" y="3419856"/>
            <a:ext cx="1920240" cy="237744"/>
          </a:xfrm>
          <a:prstGeom prst="rect">
            <a:avLst/>
          </a:prstGeom>
          <a:noFill/>
          <a:ln/>
        </p:spPr>
        <p:txBody>
          <a:bodyPr wrap="square" rtlCol="0" anchor="ctr"/>
          <a:lstStyle/>
          <a:p>
            <a:pPr marL="0" indent="0">
              <a:buNone/>
            </a:pPr>
            <a:r>
              <a:rPr lang="en-US" sz="950" dirty="0">
                <a:solidFill>
                  <a:srgbClr val="8898AA"/>
                </a:solidFill>
                <a:latin typeface="Calibri" pitchFamily="34" charset="0"/>
                <a:ea typeface="Calibri" pitchFamily="34" charset="-122"/>
                <a:cs typeface="Calibri" pitchFamily="34" charset="-120"/>
              </a:rPr>
              <a:t>Wks 7–8</a:t>
            </a:r>
            <a:endParaRPr lang="en-US" sz="950" dirty="0"/>
          </a:p>
        </p:txBody>
      </p:sp>
      <p:sp>
        <p:nvSpPr>
          <p:cNvPr id="41" name="Text 39"/>
          <p:cNvSpPr/>
          <p:nvPr/>
        </p:nvSpPr>
        <p:spPr>
          <a:xfrm>
            <a:off x="1472184" y="3639312"/>
            <a:ext cx="1920240" cy="347472"/>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Model 4</a:t>
            </a:r>
            <a:endParaRPr lang="en-US" sz="1250" dirty="0"/>
          </a:p>
        </p:txBody>
      </p:sp>
      <p:sp>
        <p:nvSpPr>
          <p:cNvPr id="42" name="Text 40"/>
          <p:cNvSpPr/>
          <p:nvPr/>
        </p:nvSpPr>
        <p:spPr>
          <a:xfrm>
            <a:off x="1472184" y="3986784"/>
            <a:ext cx="1920240" cy="621792"/>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VAR impulse responses</a:t>
            </a:r>
            <a:endParaRPr lang="en-US" sz="1150" dirty="0"/>
          </a:p>
        </p:txBody>
      </p:sp>
      <p:sp>
        <p:nvSpPr>
          <p:cNvPr id="43" name="Shape 41"/>
          <p:cNvSpPr/>
          <p:nvPr/>
        </p:nvSpPr>
        <p:spPr>
          <a:xfrm>
            <a:off x="3520440" y="2999232"/>
            <a:ext cx="2103120" cy="329184"/>
          </a:xfrm>
          <a:prstGeom prst="rect">
            <a:avLst/>
          </a:prstGeom>
          <a:solidFill>
            <a:srgbClr val="1A7A8A"/>
          </a:solidFill>
          <a:ln w="12700">
            <a:solidFill>
              <a:srgbClr val="1A7A8A"/>
            </a:solidFill>
            <a:prstDash val="solid"/>
          </a:ln>
        </p:spPr>
      </p:sp>
      <p:sp>
        <p:nvSpPr>
          <p:cNvPr id="44" name="Text 42"/>
          <p:cNvSpPr/>
          <p:nvPr/>
        </p:nvSpPr>
        <p:spPr>
          <a:xfrm>
            <a:off x="3520440" y="2999232"/>
            <a:ext cx="210312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Fall 2026</a:t>
            </a:r>
            <a:endParaRPr lang="en-US" sz="900" dirty="0"/>
          </a:p>
        </p:txBody>
      </p:sp>
      <p:sp>
        <p:nvSpPr>
          <p:cNvPr id="45" name="Shape 43"/>
          <p:cNvSpPr/>
          <p:nvPr/>
        </p:nvSpPr>
        <p:spPr>
          <a:xfrm>
            <a:off x="3520440" y="3383280"/>
            <a:ext cx="2103120" cy="1298448"/>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46" name="Shape 44"/>
          <p:cNvSpPr/>
          <p:nvPr/>
        </p:nvSpPr>
        <p:spPr>
          <a:xfrm>
            <a:off x="3520440" y="3383280"/>
            <a:ext cx="50292" cy="1298448"/>
          </a:xfrm>
          <a:prstGeom prst="rect">
            <a:avLst/>
          </a:prstGeom>
          <a:solidFill>
            <a:srgbClr val="1A7A8A"/>
          </a:solidFill>
          <a:ln w="12700">
            <a:solidFill>
              <a:srgbClr val="1A7A8A"/>
            </a:solidFill>
            <a:prstDash val="solid"/>
          </a:ln>
        </p:spPr>
      </p:sp>
      <p:sp>
        <p:nvSpPr>
          <p:cNvPr id="47" name="Text 45"/>
          <p:cNvSpPr/>
          <p:nvPr/>
        </p:nvSpPr>
        <p:spPr>
          <a:xfrm>
            <a:off x="3648456" y="3419856"/>
            <a:ext cx="1920240" cy="237744"/>
          </a:xfrm>
          <a:prstGeom prst="rect">
            <a:avLst/>
          </a:prstGeom>
          <a:noFill/>
          <a:ln/>
        </p:spPr>
        <p:txBody>
          <a:bodyPr wrap="square" rtlCol="0" anchor="ctr"/>
          <a:lstStyle/>
          <a:p>
            <a:pPr marL="0" indent="0">
              <a:buNone/>
            </a:pPr>
            <a:r>
              <a:rPr lang="en-US" sz="950" dirty="0">
                <a:solidFill>
                  <a:srgbClr val="8898AA"/>
                </a:solidFill>
                <a:latin typeface="Calibri" pitchFamily="34" charset="0"/>
                <a:ea typeface="Calibri" pitchFamily="34" charset="-122"/>
                <a:cs typeface="Calibri" pitchFamily="34" charset="-120"/>
              </a:rPr>
              <a:t>Wks 9–11</a:t>
            </a:r>
            <a:endParaRPr lang="en-US" sz="950" dirty="0"/>
          </a:p>
        </p:txBody>
      </p:sp>
      <p:sp>
        <p:nvSpPr>
          <p:cNvPr id="48" name="Text 46"/>
          <p:cNvSpPr/>
          <p:nvPr/>
        </p:nvSpPr>
        <p:spPr>
          <a:xfrm>
            <a:off x="3648456" y="3639312"/>
            <a:ext cx="1920240" cy="347472"/>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Writing</a:t>
            </a:r>
            <a:endParaRPr lang="en-US" sz="1250" dirty="0"/>
          </a:p>
        </p:txBody>
      </p:sp>
      <p:sp>
        <p:nvSpPr>
          <p:cNvPr id="49" name="Text 47"/>
          <p:cNvSpPr/>
          <p:nvPr/>
        </p:nvSpPr>
        <p:spPr>
          <a:xfrm>
            <a:off x="3648456" y="3986784"/>
            <a:ext cx="1920240" cy="621792"/>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Full draft of research paper &amp; visualizations</a:t>
            </a:r>
            <a:endParaRPr lang="en-US" sz="1150" dirty="0"/>
          </a:p>
        </p:txBody>
      </p:sp>
      <p:sp>
        <p:nvSpPr>
          <p:cNvPr id="50" name="Shape 48"/>
          <p:cNvSpPr/>
          <p:nvPr/>
        </p:nvSpPr>
        <p:spPr>
          <a:xfrm>
            <a:off x="5696712" y="2999232"/>
            <a:ext cx="2103120" cy="329184"/>
          </a:xfrm>
          <a:prstGeom prst="rect">
            <a:avLst/>
          </a:prstGeom>
          <a:solidFill>
            <a:srgbClr val="C9993A"/>
          </a:solidFill>
          <a:ln w="12700">
            <a:solidFill>
              <a:srgbClr val="C9993A"/>
            </a:solidFill>
            <a:prstDash val="solid"/>
          </a:ln>
        </p:spPr>
      </p:sp>
      <p:sp>
        <p:nvSpPr>
          <p:cNvPr id="51" name="Text 49"/>
          <p:cNvSpPr/>
          <p:nvPr/>
        </p:nvSpPr>
        <p:spPr>
          <a:xfrm>
            <a:off x="5696712" y="2999232"/>
            <a:ext cx="210312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Spring 2027</a:t>
            </a:r>
            <a:endParaRPr lang="en-US" sz="900" dirty="0"/>
          </a:p>
        </p:txBody>
      </p:sp>
      <p:sp>
        <p:nvSpPr>
          <p:cNvPr id="52" name="Shape 50"/>
          <p:cNvSpPr/>
          <p:nvPr/>
        </p:nvSpPr>
        <p:spPr>
          <a:xfrm>
            <a:off x="5696712" y="3383280"/>
            <a:ext cx="2103120" cy="1298448"/>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53" name="Shape 51"/>
          <p:cNvSpPr/>
          <p:nvPr/>
        </p:nvSpPr>
        <p:spPr>
          <a:xfrm>
            <a:off x="5696712" y="3383280"/>
            <a:ext cx="50292" cy="1298448"/>
          </a:xfrm>
          <a:prstGeom prst="rect">
            <a:avLst/>
          </a:prstGeom>
          <a:solidFill>
            <a:srgbClr val="C9993A"/>
          </a:solidFill>
          <a:ln w="12700">
            <a:solidFill>
              <a:srgbClr val="C9993A"/>
            </a:solidFill>
            <a:prstDash val="solid"/>
          </a:ln>
        </p:spPr>
      </p:sp>
      <p:sp>
        <p:nvSpPr>
          <p:cNvPr id="54" name="Text 52"/>
          <p:cNvSpPr/>
          <p:nvPr/>
        </p:nvSpPr>
        <p:spPr>
          <a:xfrm>
            <a:off x="5824728" y="3419856"/>
            <a:ext cx="1920240" cy="237744"/>
          </a:xfrm>
          <a:prstGeom prst="rect">
            <a:avLst/>
          </a:prstGeom>
          <a:noFill/>
          <a:ln/>
        </p:spPr>
        <p:txBody>
          <a:bodyPr wrap="square" rtlCol="0" anchor="ctr"/>
          <a:lstStyle/>
          <a:p>
            <a:pPr marL="0" indent="0">
              <a:buNone/>
            </a:pPr>
            <a:r>
              <a:rPr lang="en-US" sz="950" dirty="0">
                <a:solidFill>
                  <a:srgbClr val="8898AA"/>
                </a:solidFill>
                <a:latin typeface="Calibri" pitchFamily="34" charset="0"/>
                <a:ea typeface="Calibri" pitchFamily="34" charset="-122"/>
                <a:cs typeface="Calibri" pitchFamily="34" charset="-120"/>
              </a:rPr>
              <a:t>Wk 12</a:t>
            </a:r>
            <a:endParaRPr lang="en-US" sz="950" dirty="0"/>
          </a:p>
        </p:txBody>
      </p:sp>
      <p:sp>
        <p:nvSpPr>
          <p:cNvPr id="55" name="Text 53"/>
          <p:cNvSpPr/>
          <p:nvPr/>
        </p:nvSpPr>
        <p:spPr>
          <a:xfrm>
            <a:off x="5824728" y="3639312"/>
            <a:ext cx="1920240" cy="347472"/>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Defense</a:t>
            </a:r>
            <a:endParaRPr lang="en-US" sz="1250" dirty="0"/>
          </a:p>
        </p:txBody>
      </p:sp>
      <p:sp>
        <p:nvSpPr>
          <p:cNvPr id="56" name="Text 54"/>
          <p:cNvSpPr/>
          <p:nvPr/>
        </p:nvSpPr>
        <p:spPr>
          <a:xfrm>
            <a:off x="5824728" y="3986784"/>
            <a:ext cx="1920240" cy="621792"/>
          </a:xfrm>
          <a:prstGeom prst="rect">
            <a:avLst/>
          </a:prstGeom>
          <a:noFill/>
          <a:ln/>
        </p:spPr>
        <p:txBody>
          <a:bodyPr wrap="square" rtlCol="0" anchor="ctr"/>
          <a:lstStyle/>
          <a:p>
            <a:pPr marL="0" indent="0">
              <a:buNone/>
            </a:pPr>
            <a:r>
              <a:rPr lang="en-US" sz="1150" dirty="0">
                <a:solidFill>
                  <a:srgbClr val="3A4F6B"/>
                </a:solidFill>
                <a:latin typeface="Calibri" pitchFamily="34" charset="0"/>
                <a:ea typeface="Calibri" pitchFamily="34" charset="-122"/>
                <a:cs typeface="Calibri" pitchFamily="34" charset="-120"/>
              </a:rPr>
              <a:t>Committee review, revisions, final submission &amp; defense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Shape 1"/>
          <p:cNvSpPr/>
          <p:nvPr/>
        </p:nvSpPr>
        <p:spPr>
          <a:xfrm>
            <a:off x="0" y="658368"/>
            <a:ext cx="9144000" cy="50292"/>
          </a:xfrm>
          <a:prstGeom prst="rect">
            <a:avLst/>
          </a:prstGeom>
          <a:solidFill>
            <a:srgbClr val="C9993A"/>
          </a:solidFill>
          <a:ln w="12700">
            <a:solidFill>
              <a:srgbClr val="C9993A"/>
            </a:solidFill>
            <a:prstDash val="solid"/>
          </a:ln>
        </p:spPr>
      </p:sp>
      <p:sp>
        <p:nvSpPr>
          <p:cNvPr id="4" name="Text 2"/>
          <p:cNvSpPr/>
          <p:nvPr/>
        </p:nvSpPr>
        <p:spPr>
          <a:xfrm>
            <a:off x="384048" y="0"/>
            <a:ext cx="841248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Deliverables</a:t>
            </a:r>
            <a:endParaRPr lang="en-US" sz="2200" dirty="0"/>
          </a:p>
        </p:txBody>
      </p:sp>
      <p:sp>
        <p:nvSpPr>
          <p:cNvPr id="5" name="Shape 3"/>
          <p:cNvSpPr/>
          <p:nvPr/>
        </p:nvSpPr>
        <p:spPr>
          <a:xfrm>
            <a:off x="0" y="4828032"/>
            <a:ext cx="9144000" cy="310896"/>
          </a:xfrm>
          <a:prstGeom prst="rect">
            <a:avLst/>
          </a:prstGeom>
          <a:solidFill>
            <a:srgbClr val="1B2A4A"/>
          </a:solidFill>
          <a:ln w="12700">
            <a:solidFill>
              <a:srgbClr val="1B2A4A"/>
            </a:solidFill>
            <a:prstDash val="solid"/>
          </a:ln>
        </p:spPr>
      </p:sp>
      <p:sp>
        <p:nvSpPr>
          <p:cNvPr id="6" name="Text 4"/>
          <p:cNvSpPr/>
          <p:nvPr/>
        </p:nvSpPr>
        <p:spPr>
          <a:xfrm>
            <a:off x="274320" y="4828032"/>
            <a:ext cx="7772400" cy="310896"/>
          </a:xfrm>
          <a:prstGeom prst="rect">
            <a:avLst/>
          </a:prstGeom>
          <a:noFill/>
          <a:ln/>
        </p:spPr>
        <p:txBody>
          <a:bodyPr wrap="square" lIns="0" tIns="0" rIns="0" bIns="0" rtlCol="0" anchor="ctr"/>
          <a:lstStyle/>
          <a:p>
            <a:pPr marL="0" indent="0">
              <a:buNone/>
            </a:pPr>
            <a:r>
              <a:rPr lang="en-US" sz="900" dirty="0">
                <a:solidFill>
                  <a:srgbClr val="E3E8F0"/>
                </a:solidFill>
                <a:latin typeface="Calibri" pitchFamily="34" charset="0"/>
                <a:ea typeface="Calibri" pitchFamily="34" charset="-122"/>
                <a:cs typeface="Calibri" pitchFamily="34" charset="-120"/>
              </a:rPr>
              <a:t>Andy Chen  ·  MS Data Science &amp; Analytics  ·  CSU Chico  ·  Proposal Defense</a:t>
            </a:r>
            <a:endParaRPr lang="en-US" sz="900" dirty="0"/>
          </a:p>
        </p:txBody>
      </p:sp>
      <p:sp>
        <p:nvSpPr>
          <p:cNvPr id="7" name="Text 5"/>
          <p:cNvSpPr/>
          <p:nvPr/>
        </p:nvSpPr>
        <p:spPr>
          <a:xfrm>
            <a:off x="8321040" y="4828032"/>
            <a:ext cx="548640" cy="310896"/>
          </a:xfrm>
          <a:prstGeom prst="rect">
            <a:avLst/>
          </a:prstGeom>
          <a:noFill/>
          <a:ln/>
        </p:spPr>
        <p:txBody>
          <a:bodyPr wrap="square" lIns="0" tIns="0" rIns="0" bIns="0" rtlCol="0" anchor="ctr"/>
          <a:lstStyle/>
          <a:p>
            <a:pPr marL="0" indent="0" algn="r">
              <a:buNone/>
            </a:pPr>
            <a:r>
              <a:rPr lang="en-US" sz="900" b="1" dirty="0">
                <a:solidFill>
                  <a:srgbClr val="C9993A"/>
                </a:solidFill>
                <a:latin typeface="Calibri" pitchFamily="34" charset="0"/>
                <a:ea typeface="Calibri" pitchFamily="34" charset="-122"/>
                <a:cs typeface="Calibri" pitchFamily="34" charset="-120"/>
              </a:rPr>
              <a:t>10</a:t>
            </a:r>
            <a:endParaRPr lang="en-US" sz="900" dirty="0"/>
          </a:p>
        </p:txBody>
      </p:sp>
      <p:sp>
        <p:nvSpPr>
          <p:cNvPr id="8" name="Shape 6"/>
          <p:cNvSpPr/>
          <p:nvPr/>
        </p:nvSpPr>
        <p:spPr>
          <a:xfrm>
            <a:off x="256032" y="841248"/>
            <a:ext cx="4206240" cy="1792224"/>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9" name="Shape 7"/>
          <p:cNvSpPr/>
          <p:nvPr/>
        </p:nvSpPr>
        <p:spPr>
          <a:xfrm>
            <a:off x="256032" y="841248"/>
            <a:ext cx="4206240" cy="402336"/>
          </a:xfrm>
          <a:prstGeom prst="rect">
            <a:avLst/>
          </a:prstGeom>
          <a:solidFill>
            <a:srgbClr val="1B2A4A"/>
          </a:solidFill>
          <a:ln w="12700">
            <a:solidFill>
              <a:srgbClr val="1B2A4A"/>
            </a:solidFill>
            <a:prstDash val="solid"/>
          </a:ln>
        </p:spPr>
      </p:sp>
      <p:sp>
        <p:nvSpPr>
          <p:cNvPr id="10" name="Text 8"/>
          <p:cNvSpPr/>
          <p:nvPr/>
        </p:nvSpPr>
        <p:spPr>
          <a:xfrm>
            <a:off x="347472" y="841248"/>
            <a:ext cx="502920" cy="402336"/>
          </a:xfrm>
          <a:prstGeom prst="rect">
            <a:avLst/>
          </a:prstGeom>
          <a:noFill/>
          <a:ln/>
        </p:spPr>
        <p:txBody>
          <a:bodyPr wrap="square" lIns="0" tIns="0" rIns="0" bIns="0" rtlCol="0" anchor="ctr"/>
          <a:lstStyle/>
          <a:p>
            <a:pPr marL="0" indent="0">
              <a:buNone/>
            </a:pPr>
            <a:r>
              <a:rPr lang="en-US" sz="1400" b="1" dirty="0">
                <a:solidFill>
                  <a:srgbClr val="C9993A"/>
                </a:solidFill>
                <a:latin typeface="Calibri" pitchFamily="34" charset="0"/>
                <a:ea typeface="Calibri" pitchFamily="34" charset="-122"/>
                <a:cs typeface="Calibri" pitchFamily="34" charset="-120"/>
              </a:rPr>
              <a:t>01</a:t>
            </a:r>
            <a:endParaRPr lang="en-US" sz="1400" dirty="0"/>
          </a:p>
        </p:txBody>
      </p:sp>
      <p:sp>
        <p:nvSpPr>
          <p:cNvPr id="11" name="Text 9"/>
          <p:cNvSpPr/>
          <p:nvPr/>
        </p:nvSpPr>
        <p:spPr>
          <a:xfrm>
            <a:off x="850392" y="841248"/>
            <a:ext cx="352044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Research Paper</a:t>
            </a:r>
            <a:endParaRPr lang="en-US" sz="1400" dirty="0"/>
          </a:p>
        </p:txBody>
      </p:sp>
      <p:sp>
        <p:nvSpPr>
          <p:cNvPr id="12" name="Text 10"/>
          <p:cNvSpPr/>
          <p:nvPr/>
        </p:nvSpPr>
        <p:spPr>
          <a:xfrm>
            <a:off x="438912" y="1316736"/>
            <a:ext cx="3822192" cy="1216152"/>
          </a:xfrm>
          <a:prstGeom prst="rect">
            <a:avLst/>
          </a:prstGeom>
          <a:noFill/>
          <a:ln/>
        </p:spPr>
        <p:txBody>
          <a:bodyPr wrap="square" rtlCol="0" anchor="ctr"/>
          <a:lstStyle/>
          <a:p>
            <a:pPr marL="0" indent="0">
              <a:buNone/>
            </a:pPr>
            <a:r>
              <a:rPr lang="en-US" sz="1300" dirty="0">
                <a:solidFill>
                  <a:srgbClr val="3A4F6B"/>
                </a:solidFill>
                <a:latin typeface="Calibri" pitchFamily="34" charset="0"/>
                <a:ea typeface="Calibri" pitchFamily="34" charset="-122"/>
                <a:cs typeface="Calibri" pitchFamily="34" charset="-120"/>
              </a:rPr>
              <a:t>Academic paper covering all four research questions, written in APA format with full statistical reporting.</a:t>
            </a:r>
            <a:endParaRPr lang="en-US" sz="1300" dirty="0"/>
          </a:p>
        </p:txBody>
      </p:sp>
      <p:sp>
        <p:nvSpPr>
          <p:cNvPr id="13" name="Shape 11"/>
          <p:cNvSpPr/>
          <p:nvPr/>
        </p:nvSpPr>
        <p:spPr>
          <a:xfrm>
            <a:off x="4690872" y="841248"/>
            <a:ext cx="4206240" cy="1792224"/>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14" name="Shape 12"/>
          <p:cNvSpPr/>
          <p:nvPr/>
        </p:nvSpPr>
        <p:spPr>
          <a:xfrm>
            <a:off x="4690872" y="841248"/>
            <a:ext cx="4206240" cy="402336"/>
          </a:xfrm>
          <a:prstGeom prst="rect">
            <a:avLst/>
          </a:prstGeom>
          <a:solidFill>
            <a:srgbClr val="1B2A4A"/>
          </a:solidFill>
          <a:ln w="12700">
            <a:solidFill>
              <a:srgbClr val="1B2A4A"/>
            </a:solidFill>
            <a:prstDash val="solid"/>
          </a:ln>
        </p:spPr>
      </p:sp>
      <p:sp>
        <p:nvSpPr>
          <p:cNvPr id="15" name="Text 13"/>
          <p:cNvSpPr/>
          <p:nvPr/>
        </p:nvSpPr>
        <p:spPr>
          <a:xfrm>
            <a:off x="4782312" y="841248"/>
            <a:ext cx="502920" cy="402336"/>
          </a:xfrm>
          <a:prstGeom prst="rect">
            <a:avLst/>
          </a:prstGeom>
          <a:noFill/>
          <a:ln/>
        </p:spPr>
        <p:txBody>
          <a:bodyPr wrap="square" lIns="0" tIns="0" rIns="0" bIns="0" rtlCol="0" anchor="ctr"/>
          <a:lstStyle/>
          <a:p>
            <a:pPr marL="0" indent="0">
              <a:buNone/>
            </a:pPr>
            <a:r>
              <a:rPr lang="en-US" sz="1400" b="1" dirty="0">
                <a:solidFill>
                  <a:srgbClr val="C9993A"/>
                </a:solidFill>
                <a:latin typeface="Calibri" pitchFamily="34" charset="0"/>
                <a:ea typeface="Calibri" pitchFamily="34" charset="-122"/>
                <a:cs typeface="Calibri" pitchFamily="34" charset="-120"/>
              </a:rPr>
              <a:t>02</a:t>
            </a:r>
            <a:endParaRPr lang="en-US" sz="1400" dirty="0"/>
          </a:p>
        </p:txBody>
      </p:sp>
      <p:sp>
        <p:nvSpPr>
          <p:cNvPr id="16" name="Text 14"/>
          <p:cNvSpPr/>
          <p:nvPr/>
        </p:nvSpPr>
        <p:spPr>
          <a:xfrm>
            <a:off x="5285232" y="841248"/>
            <a:ext cx="352044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Panel Dataset</a:t>
            </a:r>
            <a:endParaRPr lang="en-US" sz="1400" dirty="0"/>
          </a:p>
        </p:txBody>
      </p:sp>
      <p:sp>
        <p:nvSpPr>
          <p:cNvPr id="17" name="Text 15"/>
          <p:cNvSpPr/>
          <p:nvPr/>
        </p:nvSpPr>
        <p:spPr>
          <a:xfrm>
            <a:off x="4873752" y="1316736"/>
            <a:ext cx="3822192" cy="1216152"/>
          </a:xfrm>
          <a:prstGeom prst="rect">
            <a:avLst/>
          </a:prstGeom>
          <a:noFill/>
          <a:ln/>
        </p:spPr>
        <p:txBody>
          <a:bodyPr wrap="square" rtlCol="0" anchor="ctr"/>
          <a:lstStyle/>
          <a:p>
            <a:pPr marL="0" indent="0">
              <a:buNone/>
            </a:pPr>
            <a:r>
              <a:rPr lang="en-US" sz="1300" dirty="0">
                <a:solidFill>
                  <a:srgbClr val="3A4F6B"/>
                </a:solidFill>
                <a:latin typeface="Calibri" pitchFamily="34" charset="0"/>
                <a:ea typeface="Calibri" pitchFamily="34" charset="-122"/>
                <a:cs typeface="Calibri" pitchFamily="34" charset="-120"/>
              </a:rPr>
              <a:t>Cleaned, documented dataset merging FRED-QD (March 2026 vintage) with FHFA state HPIs for 7 states, Q1 1975–Q4 2025.</a:t>
            </a:r>
            <a:endParaRPr lang="en-US" sz="1300" dirty="0"/>
          </a:p>
        </p:txBody>
      </p:sp>
      <p:sp>
        <p:nvSpPr>
          <p:cNvPr id="18" name="Shape 16"/>
          <p:cNvSpPr/>
          <p:nvPr/>
        </p:nvSpPr>
        <p:spPr>
          <a:xfrm>
            <a:off x="256032" y="2798064"/>
            <a:ext cx="4206240" cy="1792224"/>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19" name="Shape 17"/>
          <p:cNvSpPr/>
          <p:nvPr/>
        </p:nvSpPr>
        <p:spPr>
          <a:xfrm>
            <a:off x="256032" y="2798064"/>
            <a:ext cx="4206240" cy="402336"/>
          </a:xfrm>
          <a:prstGeom prst="rect">
            <a:avLst/>
          </a:prstGeom>
          <a:solidFill>
            <a:srgbClr val="1B2A4A"/>
          </a:solidFill>
          <a:ln w="12700">
            <a:solidFill>
              <a:srgbClr val="1B2A4A"/>
            </a:solidFill>
            <a:prstDash val="solid"/>
          </a:ln>
        </p:spPr>
      </p:sp>
      <p:sp>
        <p:nvSpPr>
          <p:cNvPr id="20" name="Text 18"/>
          <p:cNvSpPr/>
          <p:nvPr/>
        </p:nvSpPr>
        <p:spPr>
          <a:xfrm>
            <a:off x="347472" y="2798064"/>
            <a:ext cx="502920" cy="402336"/>
          </a:xfrm>
          <a:prstGeom prst="rect">
            <a:avLst/>
          </a:prstGeom>
          <a:noFill/>
          <a:ln/>
        </p:spPr>
        <p:txBody>
          <a:bodyPr wrap="square" lIns="0" tIns="0" rIns="0" bIns="0" rtlCol="0" anchor="ctr"/>
          <a:lstStyle/>
          <a:p>
            <a:pPr marL="0" indent="0">
              <a:buNone/>
            </a:pPr>
            <a:r>
              <a:rPr lang="en-US" sz="1400" b="1" dirty="0">
                <a:solidFill>
                  <a:srgbClr val="C9993A"/>
                </a:solidFill>
                <a:latin typeface="Calibri" pitchFamily="34" charset="0"/>
                <a:ea typeface="Calibri" pitchFamily="34" charset="-122"/>
                <a:cs typeface="Calibri" pitchFamily="34" charset="-120"/>
              </a:rPr>
              <a:t>03</a:t>
            </a:r>
            <a:endParaRPr lang="en-US" sz="1400" dirty="0"/>
          </a:p>
        </p:txBody>
      </p:sp>
      <p:sp>
        <p:nvSpPr>
          <p:cNvPr id="21" name="Text 19"/>
          <p:cNvSpPr/>
          <p:nvPr/>
        </p:nvSpPr>
        <p:spPr>
          <a:xfrm>
            <a:off x="850392" y="2798064"/>
            <a:ext cx="352044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Replication Code</a:t>
            </a:r>
            <a:endParaRPr lang="en-US" sz="1400" dirty="0"/>
          </a:p>
        </p:txBody>
      </p:sp>
      <p:sp>
        <p:nvSpPr>
          <p:cNvPr id="22" name="Text 20"/>
          <p:cNvSpPr/>
          <p:nvPr/>
        </p:nvSpPr>
        <p:spPr>
          <a:xfrm>
            <a:off x="438912" y="3273552"/>
            <a:ext cx="3822192" cy="1216152"/>
          </a:xfrm>
          <a:prstGeom prst="rect">
            <a:avLst/>
          </a:prstGeom>
          <a:noFill/>
          <a:ln/>
        </p:spPr>
        <p:txBody>
          <a:bodyPr wrap="square" rtlCol="0" anchor="ctr"/>
          <a:lstStyle/>
          <a:p>
            <a:pPr marL="0" indent="0">
              <a:buNone/>
            </a:pPr>
            <a:r>
              <a:rPr lang="en-US" sz="1300" dirty="0">
                <a:solidFill>
                  <a:srgbClr val="3A4F6B"/>
                </a:solidFill>
                <a:latin typeface="Calibri" pitchFamily="34" charset="0"/>
                <a:ea typeface="Calibri" pitchFamily="34" charset="-122"/>
                <a:cs typeface="Calibri" pitchFamily="34" charset="-120"/>
              </a:rPr>
              <a:t>Fully documented Python or R codebase — data cleaning, stationarity tests, all four models, diagnostics, and figures.</a:t>
            </a:r>
            <a:endParaRPr lang="en-US" sz="1300" dirty="0"/>
          </a:p>
        </p:txBody>
      </p:sp>
      <p:sp>
        <p:nvSpPr>
          <p:cNvPr id="23" name="Shape 21"/>
          <p:cNvSpPr/>
          <p:nvPr/>
        </p:nvSpPr>
        <p:spPr>
          <a:xfrm>
            <a:off x="4690872" y="2798064"/>
            <a:ext cx="4206240" cy="1792224"/>
          </a:xfrm>
          <a:prstGeom prst="rect">
            <a:avLst/>
          </a:prstGeom>
          <a:solidFill>
            <a:srgbClr val="FFFFFF"/>
          </a:solidFill>
          <a:ln w="12700">
            <a:solidFill>
              <a:srgbClr val="E3E8F0"/>
            </a:solidFill>
            <a:prstDash val="solid"/>
          </a:ln>
          <a:effectLst>
            <a:outerShdw blurRad="63500" dist="25400" dir="8100000" algn="bl" rotWithShape="0">
              <a:srgbClr val="000000">
                <a:alpha val="9000"/>
              </a:srgbClr>
            </a:outerShdw>
          </a:effectLst>
        </p:spPr>
      </p:sp>
      <p:sp>
        <p:nvSpPr>
          <p:cNvPr id="24" name="Shape 22"/>
          <p:cNvSpPr/>
          <p:nvPr/>
        </p:nvSpPr>
        <p:spPr>
          <a:xfrm>
            <a:off x="4690872" y="2798064"/>
            <a:ext cx="4206240" cy="402336"/>
          </a:xfrm>
          <a:prstGeom prst="rect">
            <a:avLst/>
          </a:prstGeom>
          <a:solidFill>
            <a:srgbClr val="1B2A4A"/>
          </a:solidFill>
          <a:ln w="12700">
            <a:solidFill>
              <a:srgbClr val="1B2A4A"/>
            </a:solidFill>
            <a:prstDash val="solid"/>
          </a:ln>
        </p:spPr>
      </p:sp>
      <p:sp>
        <p:nvSpPr>
          <p:cNvPr id="25" name="Text 23"/>
          <p:cNvSpPr/>
          <p:nvPr/>
        </p:nvSpPr>
        <p:spPr>
          <a:xfrm>
            <a:off x="4782312" y="2798064"/>
            <a:ext cx="502920" cy="402336"/>
          </a:xfrm>
          <a:prstGeom prst="rect">
            <a:avLst/>
          </a:prstGeom>
          <a:noFill/>
          <a:ln/>
        </p:spPr>
        <p:txBody>
          <a:bodyPr wrap="square" lIns="0" tIns="0" rIns="0" bIns="0" rtlCol="0" anchor="ctr"/>
          <a:lstStyle/>
          <a:p>
            <a:pPr marL="0" indent="0">
              <a:buNone/>
            </a:pPr>
            <a:r>
              <a:rPr lang="en-US" sz="1400" b="1" dirty="0">
                <a:solidFill>
                  <a:srgbClr val="C9993A"/>
                </a:solidFill>
                <a:latin typeface="Calibri" pitchFamily="34" charset="0"/>
                <a:ea typeface="Calibri" pitchFamily="34" charset="-122"/>
                <a:cs typeface="Calibri" pitchFamily="34" charset="-120"/>
              </a:rPr>
              <a:t>04</a:t>
            </a:r>
            <a:endParaRPr lang="en-US" sz="1400" dirty="0"/>
          </a:p>
        </p:txBody>
      </p:sp>
      <p:sp>
        <p:nvSpPr>
          <p:cNvPr id="26" name="Text 24"/>
          <p:cNvSpPr/>
          <p:nvPr/>
        </p:nvSpPr>
        <p:spPr>
          <a:xfrm>
            <a:off x="5285232" y="2798064"/>
            <a:ext cx="352044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Visualizations</a:t>
            </a:r>
            <a:endParaRPr lang="en-US" sz="1400" dirty="0"/>
          </a:p>
        </p:txBody>
      </p:sp>
      <p:sp>
        <p:nvSpPr>
          <p:cNvPr id="27" name="Text 25"/>
          <p:cNvSpPr/>
          <p:nvPr/>
        </p:nvSpPr>
        <p:spPr>
          <a:xfrm>
            <a:off x="4873752" y="3273552"/>
            <a:ext cx="3822192" cy="1216152"/>
          </a:xfrm>
          <a:prstGeom prst="rect">
            <a:avLst/>
          </a:prstGeom>
          <a:noFill/>
          <a:ln/>
        </p:spPr>
        <p:txBody>
          <a:bodyPr wrap="square" rtlCol="0" anchor="ctr"/>
          <a:lstStyle/>
          <a:p>
            <a:pPr marL="0" indent="0">
              <a:buNone/>
            </a:pPr>
            <a:r>
              <a:rPr lang="en-US" sz="1300" dirty="0">
                <a:solidFill>
                  <a:srgbClr val="3A4F6B"/>
                </a:solidFill>
                <a:latin typeface="Calibri" pitchFamily="34" charset="0"/>
                <a:ea typeface="Calibri" pitchFamily="34" charset="-122"/>
                <a:cs typeface="Calibri" pitchFamily="34" charset="-120"/>
              </a:rPr>
              <a:t>Time series plots, impulse response functions (8–12 quarter horizon), and side-by-side state comparison charts.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46304"/>
          </a:xfrm>
          <a:prstGeom prst="rect">
            <a:avLst/>
          </a:prstGeom>
          <a:solidFill>
            <a:srgbClr val="C9993A"/>
          </a:solidFill>
          <a:ln w="12700">
            <a:solidFill>
              <a:srgbClr val="C9993A"/>
            </a:solidFill>
            <a:prstDash val="solid"/>
          </a:ln>
        </p:spPr>
      </p:sp>
      <p:sp>
        <p:nvSpPr>
          <p:cNvPr id="3" name="Text 1"/>
          <p:cNvSpPr/>
          <p:nvPr/>
        </p:nvSpPr>
        <p:spPr>
          <a:xfrm>
            <a:off x="914400" y="1005840"/>
            <a:ext cx="7315200" cy="1188720"/>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4" name="Text 2"/>
          <p:cNvSpPr/>
          <p:nvPr/>
        </p:nvSpPr>
        <p:spPr>
          <a:xfrm>
            <a:off x="914400" y="2331720"/>
            <a:ext cx="7315200" cy="594360"/>
          </a:xfrm>
          <a:prstGeom prst="rect">
            <a:avLst/>
          </a:prstGeom>
          <a:noFill/>
          <a:ln/>
        </p:spPr>
        <p:txBody>
          <a:bodyPr wrap="square" rtlCol="0" anchor="ctr"/>
          <a:lstStyle/>
          <a:p>
            <a:pPr marL="0" indent="0" algn="ctr">
              <a:buNone/>
            </a:pPr>
            <a:r>
              <a:rPr lang="en-US" sz="2200" dirty="0">
                <a:solidFill>
                  <a:srgbClr val="E8B84B"/>
                </a:solidFill>
                <a:latin typeface="Calibri" pitchFamily="34" charset="0"/>
                <a:ea typeface="Calibri" pitchFamily="34" charset="-122"/>
                <a:cs typeface="Calibri" pitchFamily="34" charset="-120"/>
              </a:rPr>
              <a:t>Questions &amp; Discussion</a:t>
            </a:r>
            <a:endParaRPr lang="en-US" sz="2200" dirty="0"/>
          </a:p>
        </p:txBody>
      </p:sp>
      <p:sp>
        <p:nvSpPr>
          <p:cNvPr id="5" name="Shape 3"/>
          <p:cNvSpPr/>
          <p:nvPr/>
        </p:nvSpPr>
        <p:spPr>
          <a:xfrm>
            <a:off x="2286000" y="3154680"/>
            <a:ext cx="4572000" cy="1417320"/>
          </a:xfrm>
          <a:prstGeom prst="rect">
            <a:avLst/>
          </a:prstGeom>
          <a:solidFill>
            <a:srgbClr val="243655"/>
          </a:solidFill>
          <a:ln w="12700">
            <a:solidFill>
              <a:srgbClr val="243655"/>
            </a:solidFill>
            <a:prstDash val="solid"/>
          </a:ln>
        </p:spPr>
      </p:sp>
      <p:sp>
        <p:nvSpPr>
          <p:cNvPr id="6" name="Text 4"/>
          <p:cNvSpPr/>
          <p:nvPr/>
        </p:nvSpPr>
        <p:spPr>
          <a:xfrm>
            <a:off x="2286000" y="3154680"/>
            <a:ext cx="4572000" cy="14173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Andy Chen</a:t>
            </a:r>
            <a:endParaRPr lang="en-US" sz="1800" dirty="0"/>
          </a:p>
          <a:p>
            <a:pPr marL="0" indent="0" algn="ctr">
              <a:buNone/>
            </a:pPr>
            <a:r>
              <a:rPr lang="en-US" sz="1300" dirty="0">
                <a:solidFill>
                  <a:srgbClr val="E3E8F0"/>
                </a:solidFill>
                <a:latin typeface="Calibri" pitchFamily="34" charset="0"/>
                <a:ea typeface="Calibri" pitchFamily="34" charset="-122"/>
                <a:cs typeface="Calibri" pitchFamily="34" charset="-120"/>
              </a:rPr>
              <a:t>MS Data Science &amp; Analytics  ·  CSU Chico</a:t>
            </a:r>
            <a:endParaRPr lang="en-US" sz="1800" dirty="0"/>
          </a:p>
        </p:txBody>
      </p:sp>
      <p:sp>
        <p:nvSpPr>
          <p:cNvPr id="7" name="Shape 5"/>
          <p:cNvSpPr/>
          <p:nvPr/>
        </p:nvSpPr>
        <p:spPr>
          <a:xfrm>
            <a:off x="0" y="4828032"/>
            <a:ext cx="9144000" cy="310896"/>
          </a:xfrm>
          <a:prstGeom prst="rect">
            <a:avLst/>
          </a:prstGeom>
          <a:solidFill>
            <a:srgbClr val="C9993A"/>
          </a:solidFill>
          <a:ln w="12700">
            <a:solidFill>
              <a:srgbClr val="C9993A"/>
            </a:solidFill>
            <a:prstDash val="solid"/>
          </a:ln>
        </p:spPr>
      </p:sp>
      <p:sp>
        <p:nvSpPr>
          <p:cNvPr id="8" name="Text 6"/>
          <p:cNvSpPr/>
          <p:nvPr/>
        </p:nvSpPr>
        <p:spPr>
          <a:xfrm>
            <a:off x="0" y="4828032"/>
            <a:ext cx="9144000" cy="310896"/>
          </a:xfrm>
          <a:prstGeom prst="rect">
            <a:avLst/>
          </a:prstGeom>
          <a:noFill/>
          <a:ln/>
        </p:spPr>
        <p:txBody>
          <a:bodyPr wrap="square" lIns="0" tIns="0" rIns="0" bIns="0" rtlCol="0" anchor="ctr"/>
          <a:lstStyle/>
          <a:p>
            <a:pPr marL="0" indent="0" algn="ctr">
              <a:buNone/>
            </a:pPr>
            <a:r>
              <a:rPr lang="en-US" sz="1000" b="1" dirty="0">
                <a:solidFill>
                  <a:srgbClr val="1B2A4A"/>
                </a:solidFill>
                <a:latin typeface="Calibri" pitchFamily="34" charset="0"/>
                <a:ea typeface="Calibri" pitchFamily="34" charset="-122"/>
                <a:cs typeface="Calibri" pitchFamily="34" charset="-120"/>
              </a:rPr>
              <a:t>MS Project Proposal Defense  ·  Spring 2025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TotalTime>
  <Words>2400</Words>
  <Application>Microsoft Office PowerPoint</Application>
  <PresentationFormat>如螢幕大小 (16:9)</PresentationFormat>
  <Paragraphs>242</Paragraphs>
  <Slides>11</Slides>
  <Notes>11</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11</vt:i4>
      </vt:variant>
    </vt:vector>
  </HeadingPairs>
  <TitlesOfParts>
    <vt:vector size="14" baseType="lpstr">
      <vt:lpstr>Arial</vt:lpstr>
      <vt:lpstr>Calibri</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 Project Proposal Defense – Andy Chen</dc:title>
  <dc:subject>PptxGenJS Presentation</dc:subject>
  <dc:creator>Andy Chen</dc:creator>
  <cp:lastModifiedBy>Andy Chen</cp:lastModifiedBy>
  <cp:revision>5</cp:revision>
  <dcterms:created xsi:type="dcterms:W3CDTF">2026-04-23T16:49:35Z</dcterms:created>
  <dcterms:modified xsi:type="dcterms:W3CDTF">2026-04-24T05:21:08Z</dcterms:modified>
</cp:coreProperties>
</file>